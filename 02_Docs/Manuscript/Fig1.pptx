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5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EA27AD84-A706-B397-4CA2-C4A48AE328C1}"/>
              </a:ext>
            </a:extLst>
          </p:cNvPr>
          <p:cNvSpPr/>
          <p:nvPr/>
        </p:nvSpPr>
        <p:spPr>
          <a:xfrm>
            <a:off x="443674" y="3426074"/>
            <a:ext cx="11304651" cy="271718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6D4D9B2C-5EE4-40AC-80AA-D2AB14BB4788}"/>
              </a:ext>
            </a:extLst>
          </p:cNvPr>
          <p:cNvSpPr/>
          <p:nvPr/>
        </p:nvSpPr>
        <p:spPr>
          <a:xfrm>
            <a:off x="503986" y="658621"/>
            <a:ext cx="11304651" cy="276745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36282" y="780498"/>
            <a:ext cx="4572000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400" b="1" dirty="0">
                <a:solidFill>
                  <a:srgbClr val="7E22CE"/>
                </a:solidFill>
                <a:latin typeface="Aptos"/>
              </a:rPr>
              <a:t>A.</a:t>
            </a:r>
            <a:r>
              <a:rPr lang="en-US" sz="2400" b="1" dirty="0">
                <a:solidFill>
                  <a:srgbClr val="7E22CE"/>
                </a:solidFill>
                <a:latin typeface="Aptos"/>
              </a:rPr>
              <a:t> Traditional </a:t>
            </a:r>
            <a:r>
              <a:rPr sz="2400" b="1" dirty="0">
                <a:solidFill>
                  <a:srgbClr val="7E22CE"/>
                </a:solidFill>
                <a:latin typeface="Aptos"/>
              </a:rPr>
              <a:t>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282" y="3567355"/>
            <a:ext cx="5303520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400" b="1" dirty="0">
                <a:solidFill>
                  <a:srgbClr val="7E22CE"/>
                </a:solidFill>
                <a:latin typeface="Aptos"/>
              </a:rPr>
              <a:t>B. Proposed a priori PBPK</a:t>
            </a:r>
            <a:r>
              <a:rPr lang="en-US" sz="2400" b="1" dirty="0">
                <a:solidFill>
                  <a:srgbClr val="7E22CE"/>
                </a:solidFill>
                <a:latin typeface="Aptos"/>
              </a:rPr>
              <a:t> </a:t>
            </a:r>
            <a:r>
              <a:rPr sz="2400" b="1" dirty="0">
                <a:solidFill>
                  <a:srgbClr val="7E22CE"/>
                </a:solidFill>
                <a:latin typeface="Aptos"/>
              </a:rPr>
              <a:t>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851" y="1963001"/>
            <a:ext cx="90982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candidate
mAb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12631" y="1963001"/>
            <a:ext cx="12344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in vitro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4270" y="1963001"/>
            <a:ext cx="13880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US" sz="1200" b="1" dirty="0">
                <a:solidFill>
                  <a:srgbClr val="1F2937"/>
                </a:solidFill>
                <a:latin typeface="Aptos"/>
              </a:rPr>
              <a:t>single-dose in vivo </a:t>
            </a:r>
            <a:r>
              <a:rPr sz="1200" b="1" dirty="0">
                <a:solidFill>
                  <a:srgbClr val="1F2937"/>
                </a:solidFill>
                <a:latin typeface="Aptos"/>
              </a:rPr>
              <a:t>PK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791" y="1963001"/>
            <a:ext cx="1508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repeat-dose</a:t>
            </a:r>
            <a:r>
              <a:rPr lang="en-US" sz="1200" b="1" dirty="0">
                <a:solidFill>
                  <a:srgbClr val="1F2937"/>
                </a:solidFill>
                <a:latin typeface="Aptos"/>
              </a:rPr>
              <a:t> in vivo</a:t>
            </a:r>
            <a:r>
              <a:rPr sz="120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200" b="1" dirty="0">
                <a:solidFill>
                  <a:srgbClr val="1F2937"/>
                </a:solidFill>
                <a:latin typeface="Aptos"/>
              </a:rPr>
              <a:t>
PK</a:t>
            </a:r>
            <a:endParaRPr sz="12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44751" y="1963001"/>
            <a:ext cx="11887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top-down
</a:t>
            </a:r>
            <a:r>
              <a:rPr lang="en-US" sz="1200" b="1" dirty="0">
                <a:solidFill>
                  <a:srgbClr val="1F2937"/>
                </a:solidFill>
                <a:latin typeface="Aptos"/>
              </a:rPr>
              <a:t>modeling</a:t>
            </a:r>
            <a:endParaRPr sz="12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790671" y="1963001"/>
            <a:ext cx="141351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FIH</a:t>
            </a:r>
            <a:r>
              <a:rPr lang="en-US" sz="1200" b="1" dirty="0">
                <a:solidFill>
                  <a:srgbClr val="1F2937"/>
                </a:solidFill>
                <a:latin typeface="Aptos"/>
              </a:rPr>
              <a:t> (human PK)</a:t>
            </a:r>
            <a:endParaRPr sz="12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1853679" y="2196173"/>
            <a:ext cx="758952" cy="64008"/>
          </a:xfrm>
          <a:prstGeom prst="rightArrow">
            <a:avLst/>
          </a:prstGeom>
          <a:solidFill>
            <a:srgbClr val="B2BEC9"/>
          </a:solidFill>
          <a:ln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7" name="Right Arrow 16"/>
          <p:cNvSpPr/>
          <p:nvPr/>
        </p:nvSpPr>
        <p:spPr>
          <a:xfrm>
            <a:off x="3847071" y="2196173"/>
            <a:ext cx="457199" cy="64008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8" name="Right Arrow 17"/>
          <p:cNvSpPr/>
          <p:nvPr/>
        </p:nvSpPr>
        <p:spPr>
          <a:xfrm>
            <a:off x="5717758" y="2196173"/>
            <a:ext cx="461031" cy="64008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9" name="Right Arrow 18"/>
          <p:cNvSpPr/>
          <p:nvPr/>
        </p:nvSpPr>
        <p:spPr>
          <a:xfrm>
            <a:off x="7687551" y="2196173"/>
            <a:ext cx="457200" cy="64008"/>
          </a:xfrm>
          <a:prstGeom prst="rightArrow">
            <a:avLst/>
          </a:prstGeom>
          <a:solidFill>
            <a:srgbClr val="B2BEC9"/>
          </a:solidFill>
          <a:ln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9333471" y="2196173"/>
            <a:ext cx="457199" cy="64008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21" name="Right Arrow 20"/>
          <p:cNvSpPr/>
          <p:nvPr/>
        </p:nvSpPr>
        <p:spPr>
          <a:xfrm flipH="1">
            <a:off x="10979390" y="2196173"/>
            <a:ext cx="73153" cy="45719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22" name="TextBox 21"/>
          <p:cNvSpPr txBox="1"/>
          <p:nvPr/>
        </p:nvSpPr>
        <p:spPr>
          <a:xfrm>
            <a:off x="2612631" y="1493914"/>
            <a:ext cx="1234440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002060"/>
                </a:solidFill>
                <a:latin typeface="Aptos"/>
              </a:rPr>
              <a:t>2–6 wk
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4270" y="1454112"/>
            <a:ext cx="1234440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ptos"/>
              </a:rPr>
              <a:t>4-6 wk
12–18 animals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6312" y="1418878"/>
            <a:ext cx="1508760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ptos"/>
              </a:rPr>
              <a:t>2</a:t>
            </a:r>
            <a:r>
              <a:rPr sz="1200" b="1" dirty="0">
                <a:solidFill>
                  <a:srgbClr val="002060"/>
                </a:solidFill>
                <a:latin typeface="Aptos"/>
              </a:rPr>
              <a:t>–</a:t>
            </a:r>
            <a:r>
              <a:rPr lang="en-US" sz="1200" b="1" dirty="0">
                <a:solidFill>
                  <a:srgbClr val="002060"/>
                </a:solidFill>
                <a:latin typeface="Aptos"/>
              </a:rPr>
              <a:t>4</a:t>
            </a:r>
            <a:r>
              <a:rPr sz="1200" b="1" dirty="0">
                <a:solidFill>
                  <a:srgbClr val="002060"/>
                </a:solidFill>
                <a:latin typeface="Aptos"/>
              </a:rPr>
              <a:t> mo 
+12–24+ </a:t>
            </a:r>
            <a:r>
              <a:rPr lang="en-US" sz="1200" b="1" dirty="0">
                <a:solidFill>
                  <a:srgbClr val="002060"/>
                </a:solidFill>
                <a:latin typeface="Aptos"/>
              </a:rPr>
              <a:t>animals</a:t>
            </a:r>
            <a:endParaRPr sz="1200" b="1" dirty="0">
              <a:solidFill>
                <a:srgbClr val="002060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15490" y="1460297"/>
            <a:ext cx="118872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002060"/>
                </a:solidFill>
                <a:latin typeface="Aptos"/>
              </a:rPr>
              <a:t>2–</a:t>
            </a:r>
            <a:r>
              <a:rPr lang="en-US" sz="1200" b="1" dirty="0">
                <a:solidFill>
                  <a:srgbClr val="002060"/>
                </a:solidFill>
                <a:latin typeface="Aptos"/>
              </a:rPr>
              <a:t>4</a:t>
            </a:r>
            <a:r>
              <a:rPr sz="1200" b="1" dirty="0">
                <a:solidFill>
                  <a:srgbClr val="002060"/>
                </a:solidFill>
                <a:latin typeface="Aptos"/>
              </a:rPr>
              <a:t> wk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76231" y="2650629"/>
            <a:ext cx="307238" cy="16093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37" name="Oval 36"/>
          <p:cNvSpPr/>
          <p:nvPr/>
        </p:nvSpPr>
        <p:spPr>
          <a:xfrm>
            <a:off x="3123049" y="2679890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38" name="Oval 37"/>
          <p:cNvSpPr/>
          <p:nvPr/>
        </p:nvSpPr>
        <p:spPr>
          <a:xfrm>
            <a:off x="3123049" y="2744264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39" name="Oval 38"/>
          <p:cNvSpPr/>
          <p:nvPr/>
        </p:nvSpPr>
        <p:spPr>
          <a:xfrm>
            <a:off x="3210831" y="2679890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40" name="Oval 39"/>
          <p:cNvSpPr/>
          <p:nvPr/>
        </p:nvSpPr>
        <p:spPr>
          <a:xfrm>
            <a:off x="3210831" y="2744264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41" name="Oval 40"/>
          <p:cNvSpPr/>
          <p:nvPr/>
        </p:nvSpPr>
        <p:spPr>
          <a:xfrm>
            <a:off x="3298613" y="2679890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42" name="Oval 41"/>
          <p:cNvSpPr/>
          <p:nvPr/>
        </p:nvSpPr>
        <p:spPr>
          <a:xfrm>
            <a:off x="3298613" y="2744264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57" name="Rectangle 56"/>
          <p:cNvSpPr/>
          <p:nvPr/>
        </p:nvSpPr>
        <p:spPr>
          <a:xfrm>
            <a:off x="8573787" y="2650629"/>
            <a:ext cx="29260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cxnSp>
        <p:nvCxnSpPr>
          <p:cNvPr id="58" name="Connector 57"/>
          <p:cNvCxnSpPr>
            <a:cxnSpLocks/>
          </p:cNvCxnSpPr>
          <p:nvPr/>
        </p:nvCxnSpPr>
        <p:spPr>
          <a:xfrm flipV="1">
            <a:off x="8624993" y="2709150"/>
            <a:ext cx="65837" cy="3657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cxnSpLocks/>
          </p:cNvCxnSpPr>
          <p:nvPr/>
        </p:nvCxnSpPr>
        <p:spPr>
          <a:xfrm>
            <a:off x="8690830" y="2709150"/>
            <a:ext cx="58521" cy="2194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cxnSpLocks/>
          </p:cNvCxnSpPr>
          <p:nvPr/>
        </p:nvCxnSpPr>
        <p:spPr>
          <a:xfrm flipV="1">
            <a:off x="8749351" y="2694520"/>
            <a:ext cx="61448" cy="3657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cxnSpLocks/>
          </p:cNvCxnSpPr>
          <p:nvPr/>
        </p:nvCxnSpPr>
        <p:spPr>
          <a:xfrm>
            <a:off x="8720091" y="2796933"/>
            <a:ext cx="0" cy="3657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cxnSpLocks/>
          </p:cNvCxnSpPr>
          <p:nvPr/>
        </p:nvCxnSpPr>
        <p:spPr>
          <a:xfrm>
            <a:off x="8679125" y="2833509"/>
            <a:ext cx="8193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9743046" y="1252891"/>
            <a:ext cx="1508760" cy="52087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2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7E22CE"/>
                </a:solidFill>
                <a:latin typeface="Aptos"/>
              </a:rPr>
              <a:t>~24–42 </a:t>
            </a:r>
            <a:r>
              <a:rPr lang="en-US" sz="1400" b="1" dirty="0">
                <a:solidFill>
                  <a:srgbClr val="7E22CE"/>
                </a:solidFill>
                <a:latin typeface="Aptos"/>
              </a:rPr>
              <a:t>animals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199322" y="4753467"/>
            <a:ext cx="13716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targeted in vitro
parameter</a:t>
            </a:r>
            <a:r>
              <a:rPr lang="en-US" sz="1200" b="1" dirty="0">
                <a:solidFill>
                  <a:srgbClr val="1F2937"/>
                </a:solidFill>
                <a:latin typeface="Aptos"/>
              </a:rPr>
              <a:t>s</a:t>
            </a:r>
            <a:r>
              <a:rPr sz="1200" b="1" dirty="0">
                <a:solidFill>
                  <a:srgbClr val="1F2937"/>
                </a:solidFill>
                <a:latin typeface="Aptos"/>
              </a:rPr>
              <a:t>
package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000690" y="4753467"/>
            <a:ext cx="1271757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US" sz="1200" b="1" dirty="0">
                <a:solidFill>
                  <a:srgbClr val="1F2937"/>
                </a:solidFill>
                <a:latin typeface="Aptos"/>
              </a:rPr>
              <a:t>a priori </a:t>
            </a:r>
            <a:r>
              <a:rPr sz="1200" b="1" dirty="0">
                <a:solidFill>
                  <a:srgbClr val="1F2937"/>
                </a:solidFill>
                <a:latin typeface="Aptos"/>
              </a:rPr>
              <a:t>PBPK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569198" y="4753467"/>
            <a:ext cx="157276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US" sz="1200" b="1" dirty="0">
                <a:solidFill>
                  <a:srgbClr val="1F2937"/>
                </a:solidFill>
                <a:latin typeface="Aptos"/>
              </a:rPr>
              <a:t>reduced in vivo PK</a:t>
            </a:r>
          </a:p>
        </p:txBody>
      </p:sp>
      <p:sp>
        <p:nvSpPr>
          <p:cNvPr id="79" name="Diamond 78"/>
          <p:cNvSpPr/>
          <p:nvPr/>
        </p:nvSpPr>
        <p:spPr>
          <a:xfrm>
            <a:off x="7478593" y="4700302"/>
            <a:ext cx="1884762" cy="658368"/>
          </a:xfrm>
          <a:prstGeom prst="diamond">
            <a:avLst/>
          </a:prstGeom>
          <a:solidFill>
            <a:srgbClr val="FAF5FF"/>
          </a:solidFill>
          <a:ln w="17780">
            <a:solidFill>
              <a:srgbClr val="C02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lang="en-US" sz="1100" b="1" dirty="0">
                <a:solidFill>
                  <a:srgbClr val="1F2937"/>
                </a:solidFill>
                <a:latin typeface="Aptos"/>
              </a:rPr>
              <a:t>predictions meet criteria?</a:t>
            </a:r>
            <a:endParaRPr sz="11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043487" y="4411746"/>
            <a:ext cx="384048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dirty="0">
                <a:solidFill>
                  <a:srgbClr val="7E22CE"/>
                </a:solidFill>
                <a:latin typeface="Aptos"/>
              </a:rPr>
              <a:t>Yes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98859" y="5340268"/>
            <a:ext cx="32004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dirty="0">
                <a:solidFill>
                  <a:srgbClr val="7030A0"/>
                </a:solidFill>
                <a:latin typeface="Aptos"/>
              </a:rPr>
              <a:t>No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09850" y="5600962"/>
            <a:ext cx="1188720" cy="37548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dirty="0">
                <a:solidFill>
                  <a:srgbClr val="7030A0"/>
                </a:solidFill>
                <a:latin typeface="Aptos"/>
              </a:rPr>
              <a:t>refine model
with observed PK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93265" y="4278864"/>
            <a:ext cx="157276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ptos"/>
              </a:rPr>
              <a:t>2</a:t>
            </a:r>
            <a:r>
              <a:rPr sz="1200" b="1" dirty="0">
                <a:solidFill>
                  <a:srgbClr val="002060"/>
                </a:solidFill>
                <a:latin typeface="Aptos"/>
              </a:rPr>
              <a:t>–6 wk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23406" y="4315534"/>
            <a:ext cx="16916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002060"/>
                </a:solidFill>
                <a:latin typeface="Aptos"/>
              </a:rPr>
              <a:t>1–2 wk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490947" y="5386946"/>
            <a:ext cx="29260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cxnSp>
        <p:nvCxnSpPr>
          <p:cNvPr id="113" name="Connector 112"/>
          <p:cNvCxnSpPr>
            <a:cxnSpLocks/>
          </p:cNvCxnSpPr>
          <p:nvPr/>
        </p:nvCxnSpPr>
        <p:spPr>
          <a:xfrm flipV="1">
            <a:off x="4542153" y="5445467"/>
            <a:ext cx="65837" cy="3657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>
            <a:cxnSpLocks/>
          </p:cNvCxnSpPr>
          <p:nvPr/>
        </p:nvCxnSpPr>
        <p:spPr>
          <a:xfrm>
            <a:off x="4607990" y="5445467"/>
            <a:ext cx="58521" cy="2194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>
            <a:cxnSpLocks/>
          </p:cNvCxnSpPr>
          <p:nvPr/>
        </p:nvCxnSpPr>
        <p:spPr>
          <a:xfrm flipV="1">
            <a:off x="4666511" y="5430837"/>
            <a:ext cx="61448" cy="3657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>
            <a:cxnSpLocks/>
          </p:cNvCxnSpPr>
          <p:nvPr/>
        </p:nvCxnSpPr>
        <p:spPr>
          <a:xfrm>
            <a:off x="4637251" y="5533250"/>
            <a:ext cx="0" cy="3657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>
            <a:cxnSpLocks/>
          </p:cNvCxnSpPr>
          <p:nvPr/>
        </p:nvCxnSpPr>
        <p:spPr>
          <a:xfrm>
            <a:off x="4596285" y="5569826"/>
            <a:ext cx="8193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6" name="Graphic 135" descr="Monkey outline">
            <a:extLst>
              <a:ext uri="{FF2B5EF4-FFF2-40B4-BE49-F238E27FC236}">
                <a16:creationId xmlns:a16="http://schemas.microsoft.com/office/drawing/2014/main" id="{189CE017-B080-F689-C3AA-02D7B58A2C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2648" y="2577477"/>
            <a:ext cx="321869" cy="321869"/>
          </a:xfrm>
          <a:prstGeom prst="rect">
            <a:avLst/>
          </a:prstGeom>
        </p:spPr>
      </p:pic>
      <p:pic>
        <p:nvPicPr>
          <p:cNvPr id="137" name="Graphic 136" descr="Monkey outline">
            <a:extLst>
              <a:ext uri="{FF2B5EF4-FFF2-40B4-BE49-F238E27FC236}">
                <a16:creationId xmlns:a16="http://schemas.microsoft.com/office/drawing/2014/main" id="{15B27BC3-5042-DF17-7CB2-9FFA8EDBE6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17192" y="2583329"/>
            <a:ext cx="321869" cy="321869"/>
          </a:xfrm>
          <a:prstGeom prst="rect">
            <a:avLst/>
          </a:prstGeom>
        </p:spPr>
      </p:pic>
      <p:pic>
        <p:nvPicPr>
          <p:cNvPr id="139" name="Graphic 138" descr="Man outline">
            <a:extLst>
              <a:ext uri="{FF2B5EF4-FFF2-40B4-BE49-F238E27FC236}">
                <a16:creationId xmlns:a16="http://schemas.microsoft.com/office/drawing/2014/main" id="{EF7E6FD8-4E48-F1A5-22CF-36A5B5F9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8803" y="2559966"/>
            <a:ext cx="473933" cy="473933"/>
          </a:xfrm>
          <a:prstGeom prst="rect">
            <a:avLst/>
          </a:prstGeom>
        </p:spPr>
      </p:pic>
      <p:sp>
        <p:nvSpPr>
          <p:cNvPr id="140" name="Rounded Rectangle 8">
            <a:extLst>
              <a:ext uri="{FF2B5EF4-FFF2-40B4-BE49-F238E27FC236}">
                <a16:creationId xmlns:a16="http://schemas.microsoft.com/office/drawing/2014/main" id="{5FE52383-1FA4-8DF1-D7A0-46C067924E14}"/>
              </a:ext>
            </a:extLst>
          </p:cNvPr>
          <p:cNvSpPr/>
          <p:nvPr/>
        </p:nvSpPr>
        <p:spPr>
          <a:xfrm>
            <a:off x="621982" y="4735179"/>
            <a:ext cx="90982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candidate
mAb</a:t>
            </a:r>
          </a:p>
        </p:txBody>
      </p:sp>
      <p:sp>
        <p:nvSpPr>
          <p:cNvPr id="148" name="Rounded Rectangle 35">
            <a:extLst>
              <a:ext uri="{FF2B5EF4-FFF2-40B4-BE49-F238E27FC236}">
                <a16:creationId xmlns:a16="http://schemas.microsoft.com/office/drawing/2014/main" id="{B8E03203-04A7-6139-7AA4-522415D12F36}"/>
              </a:ext>
            </a:extLst>
          </p:cNvPr>
          <p:cNvSpPr/>
          <p:nvPr/>
        </p:nvSpPr>
        <p:spPr>
          <a:xfrm>
            <a:off x="2673896" y="5371014"/>
            <a:ext cx="307238" cy="16093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BBA34CFB-9EF9-3352-E60C-8D8816E11BF2}"/>
              </a:ext>
            </a:extLst>
          </p:cNvPr>
          <p:cNvSpPr/>
          <p:nvPr/>
        </p:nvSpPr>
        <p:spPr>
          <a:xfrm>
            <a:off x="2720714" y="5400275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E24CABCE-3A6E-7C1E-1A10-9095A1F6CACF}"/>
              </a:ext>
            </a:extLst>
          </p:cNvPr>
          <p:cNvSpPr/>
          <p:nvPr/>
        </p:nvSpPr>
        <p:spPr>
          <a:xfrm>
            <a:off x="2720714" y="5464649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E0939DA-D8E3-1C43-A62F-8DABB90F0F32}"/>
              </a:ext>
            </a:extLst>
          </p:cNvPr>
          <p:cNvSpPr/>
          <p:nvPr/>
        </p:nvSpPr>
        <p:spPr>
          <a:xfrm>
            <a:off x="2808496" y="5400275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09F0F9D-CDDC-35BB-A368-17494FE4F72A}"/>
              </a:ext>
            </a:extLst>
          </p:cNvPr>
          <p:cNvSpPr/>
          <p:nvPr/>
        </p:nvSpPr>
        <p:spPr>
          <a:xfrm>
            <a:off x="2808496" y="5464649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D4F8C91A-E4C4-8ED8-913F-B3647F999BCC}"/>
              </a:ext>
            </a:extLst>
          </p:cNvPr>
          <p:cNvSpPr/>
          <p:nvPr/>
        </p:nvSpPr>
        <p:spPr>
          <a:xfrm>
            <a:off x="2896278" y="5400275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240EFCBD-EF82-40C5-049D-4412E971D110}"/>
              </a:ext>
            </a:extLst>
          </p:cNvPr>
          <p:cNvSpPr/>
          <p:nvPr/>
        </p:nvSpPr>
        <p:spPr>
          <a:xfrm>
            <a:off x="2896278" y="5464649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0B9FA6B-0089-ECCA-7DD0-1DBEA87EE8C2}"/>
              </a:ext>
            </a:extLst>
          </p:cNvPr>
          <p:cNvSpPr txBox="1"/>
          <p:nvPr/>
        </p:nvSpPr>
        <p:spPr>
          <a:xfrm>
            <a:off x="5692330" y="4153446"/>
            <a:ext cx="11734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ptos"/>
              </a:rPr>
              <a:t>4-6 wk
6-9 animals</a:t>
            </a:r>
          </a:p>
        </p:txBody>
      </p:sp>
      <p:pic>
        <p:nvPicPr>
          <p:cNvPr id="161" name="Graphic 160" descr="Man outline">
            <a:extLst>
              <a:ext uri="{FF2B5EF4-FFF2-40B4-BE49-F238E27FC236}">
                <a16:creationId xmlns:a16="http://schemas.microsoft.com/office/drawing/2014/main" id="{B9AA4034-2064-BE1A-89B4-A3EDE6148F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5033" y="5350370"/>
            <a:ext cx="473933" cy="473933"/>
          </a:xfrm>
          <a:prstGeom prst="rect">
            <a:avLst/>
          </a:prstGeom>
        </p:spPr>
      </p:pic>
      <p:pic>
        <p:nvPicPr>
          <p:cNvPr id="163" name="Graphic 162" descr="Monkey outline">
            <a:extLst>
              <a:ext uri="{FF2B5EF4-FFF2-40B4-BE49-F238E27FC236}">
                <a16:creationId xmlns:a16="http://schemas.microsoft.com/office/drawing/2014/main" id="{4D791292-6863-B38B-29E9-8F08D95774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23242" y="5352606"/>
            <a:ext cx="321869" cy="321869"/>
          </a:xfrm>
          <a:prstGeom prst="rect">
            <a:avLst/>
          </a:prstGeom>
        </p:spPr>
      </p:pic>
      <p:sp>
        <p:nvSpPr>
          <p:cNvPr id="181" name="Rounded Rectangle 73">
            <a:extLst>
              <a:ext uri="{FF2B5EF4-FFF2-40B4-BE49-F238E27FC236}">
                <a16:creationId xmlns:a16="http://schemas.microsoft.com/office/drawing/2014/main" id="{065BC005-0ECA-8727-488C-9CD79CE871B6}"/>
              </a:ext>
            </a:extLst>
          </p:cNvPr>
          <p:cNvSpPr/>
          <p:nvPr/>
        </p:nvSpPr>
        <p:spPr>
          <a:xfrm>
            <a:off x="10175557" y="4030902"/>
            <a:ext cx="1471942" cy="52087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2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7E22CE"/>
                </a:solidFill>
                <a:latin typeface="Aptos"/>
              </a:rPr>
              <a:t>~</a:t>
            </a:r>
            <a:r>
              <a:rPr lang="en-US" sz="1400" b="1" dirty="0">
                <a:solidFill>
                  <a:srgbClr val="7E22CE"/>
                </a:solidFill>
                <a:latin typeface="Aptos"/>
              </a:rPr>
              <a:t>6-9 animals</a:t>
            </a:r>
            <a:endParaRPr sz="1400" b="1" dirty="0">
              <a:solidFill>
                <a:srgbClr val="7E22CE"/>
              </a:solidFill>
              <a:latin typeface="Aptos"/>
            </a:endParaRPr>
          </a:p>
        </p:txBody>
      </p:sp>
      <p:sp>
        <p:nvSpPr>
          <p:cNvPr id="182" name="Rounded Rectangle 13">
            <a:extLst>
              <a:ext uri="{FF2B5EF4-FFF2-40B4-BE49-F238E27FC236}">
                <a16:creationId xmlns:a16="http://schemas.microsoft.com/office/drawing/2014/main" id="{2C7F9AA0-11B8-0DA8-9474-9ED4FF39EA36}"/>
              </a:ext>
            </a:extLst>
          </p:cNvPr>
          <p:cNvSpPr/>
          <p:nvPr/>
        </p:nvSpPr>
        <p:spPr>
          <a:xfrm>
            <a:off x="10233989" y="4735179"/>
            <a:ext cx="141351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FIH</a:t>
            </a:r>
            <a:r>
              <a:rPr lang="en-US" sz="1200" b="1" dirty="0">
                <a:solidFill>
                  <a:srgbClr val="1F2937"/>
                </a:solidFill>
                <a:latin typeface="Aptos"/>
              </a:rPr>
              <a:t> (human PK)</a:t>
            </a:r>
            <a:endParaRPr sz="12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86" name="Right Arrow 16">
            <a:extLst>
              <a:ext uri="{FF2B5EF4-FFF2-40B4-BE49-F238E27FC236}">
                <a16:creationId xmlns:a16="http://schemas.microsoft.com/office/drawing/2014/main" id="{96A063AF-A0EE-30B1-085C-27CFC080C990}"/>
              </a:ext>
            </a:extLst>
          </p:cNvPr>
          <p:cNvSpPr/>
          <p:nvPr/>
        </p:nvSpPr>
        <p:spPr>
          <a:xfrm>
            <a:off x="3559035" y="5011279"/>
            <a:ext cx="457199" cy="64008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87" name="Right Arrow 16">
            <a:extLst>
              <a:ext uri="{FF2B5EF4-FFF2-40B4-BE49-F238E27FC236}">
                <a16:creationId xmlns:a16="http://schemas.microsoft.com/office/drawing/2014/main" id="{97D3FE8A-DBCA-03B6-CB00-B0DBCE60FE0B}"/>
              </a:ext>
            </a:extLst>
          </p:cNvPr>
          <p:cNvSpPr/>
          <p:nvPr/>
        </p:nvSpPr>
        <p:spPr>
          <a:xfrm>
            <a:off x="1527239" y="4979275"/>
            <a:ext cx="672083" cy="64008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89" name="Right Arrow 16">
            <a:extLst>
              <a:ext uri="{FF2B5EF4-FFF2-40B4-BE49-F238E27FC236}">
                <a16:creationId xmlns:a16="http://schemas.microsoft.com/office/drawing/2014/main" id="{45FEE88C-9D81-BF62-4188-4C53BD6C0584}"/>
              </a:ext>
            </a:extLst>
          </p:cNvPr>
          <p:cNvSpPr/>
          <p:nvPr/>
        </p:nvSpPr>
        <p:spPr>
          <a:xfrm>
            <a:off x="7126723" y="4992586"/>
            <a:ext cx="404430" cy="64008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92" name="Right Arrow 16">
            <a:extLst>
              <a:ext uri="{FF2B5EF4-FFF2-40B4-BE49-F238E27FC236}">
                <a16:creationId xmlns:a16="http://schemas.microsoft.com/office/drawing/2014/main" id="{E5A49988-AACE-9D1A-6C3F-9188FBF026EC}"/>
              </a:ext>
            </a:extLst>
          </p:cNvPr>
          <p:cNvSpPr/>
          <p:nvPr/>
        </p:nvSpPr>
        <p:spPr>
          <a:xfrm>
            <a:off x="5280106" y="5018642"/>
            <a:ext cx="294611" cy="45719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41762C6-ED1C-D0AA-A494-FD60E55F4413}"/>
              </a:ext>
            </a:extLst>
          </p:cNvPr>
          <p:cNvCxnSpPr>
            <a:cxnSpLocks/>
            <a:stCxn id="79" idx="0"/>
            <a:endCxn id="182" idx="1"/>
          </p:cNvCxnSpPr>
          <p:nvPr/>
        </p:nvCxnSpPr>
        <p:spPr>
          <a:xfrm rot="16200000" flipH="1">
            <a:off x="9177454" y="3943821"/>
            <a:ext cx="300053" cy="1813015"/>
          </a:xfrm>
          <a:prstGeom prst="bentConnector4">
            <a:avLst>
              <a:gd name="adj1" fmla="val -28069"/>
              <a:gd name="adj2" fmla="val 68556"/>
            </a:avLst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4066661-97A4-5938-AD5B-C9FA8B4DEB3F}"/>
              </a:ext>
            </a:extLst>
          </p:cNvPr>
          <p:cNvCxnSpPr>
            <a:cxnSpLocks/>
            <a:stCxn id="79" idx="2"/>
          </p:cNvCxnSpPr>
          <p:nvPr/>
        </p:nvCxnSpPr>
        <p:spPr>
          <a:xfrm rot="5400000" flipH="1" flipV="1">
            <a:off x="9217563" y="4342242"/>
            <a:ext cx="219838" cy="1813017"/>
          </a:xfrm>
          <a:prstGeom prst="bentConnector4">
            <a:avLst>
              <a:gd name="adj1" fmla="val -82095"/>
              <a:gd name="adj2" fmla="val 69087"/>
            </a:avLst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104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Krina Mehta</cp:lastModifiedBy>
  <cp:revision>8</cp:revision>
  <dcterms:created xsi:type="dcterms:W3CDTF">2013-01-27T09:14:16Z</dcterms:created>
  <dcterms:modified xsi:type="dcterms:W3CDTF">2026-07-03T01:02:12Z</dcterms:modified>
  <cp:category/>
</cp:coreProperties>
</file>