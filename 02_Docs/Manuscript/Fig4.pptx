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E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55" autoAdjust="0"/>
    <p:restoredTop sz="94660"/>
  </p:normalViewPr>
  <p:slideViewPr>
    <p:cSldViewPr snapToGrid="0" snapToObjects="1">
      <p:cViewPr>
        <p:scale>
          <a:sx n="70" d="100"/>
          <a:sy n="70" d="100"/>
        </p:scale>
        <p:origin x="724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EA27AD84-A706-B397-4CA2-C4A48AE328C1}"/>
              </a:ext>
            </a:extLst>
          </p:cNvPr>
          <p:cNvSpPr/>
          <p:nvPr/>
        </p:nvSpPr>
        <p:spPr>
          <a:xfrm>
            <a:off x="453278" y="796457"/>
            <a:ext cx="11304651" cy="271718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6D4D9B2C-5EE4-40AC-80AA-D2AB14BB4788}"/>
              </a:ext>
            </a:extLst>
          </p:cNvPr>
          <p:cNvSpPr/>
          <p:nvPr/>
        </p:nvSpPr>
        <p:spPr>
          <a:xfrm>
            <a:off x="453278" y="3528267"/>
            <a:ext cx="11304651" cy="282362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97725" y="1017202"/>
            <a:ext cx="4572000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400" b="1" dirty="0">
                <a:solidFill>
                  <a:srgbClr val="7E22CE"/>
                </a:solidFill>
                <a:latin typeface="Aptos"/>
              </a:rPr>
              <a:t>A.</a:t>
            </a:r>
            <a:r>
              <a:rPr lang="en-US" sz="2400" b="1" dirty="0">
                <a:solidFill>
                  <a:srgbClr val="7E22CE"/>
                </a:solidFill>
                <a:latin typeface="Aptos"/>
              </a:rPr>
              <a:t> Traditional </a:t>
            </a:r>
            <a:r>
              <a:rPr sz="2400" b="1" dirty="0">
                <a:solidFill>
                  <a:srgbClr val="7E22CE"/>
                </a:solidFill>
                <a:latin typeface="Aptos"/>
              </a:rPr>
              <a:t>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282" y="3567355"/>
            <a:ext cx="5303520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400" b="1" dirty="0">
                <a:solidFill>
                  <a:srgbClr val="7E22CE"/>
                </a:solidFill>
                <a:latin typeface="Aptos"/>
              </a:rPr>
              <a:t>B. Proposed a priori PBPK</a:t>
            </a:r>
            <a:r>
              <a:rPr lang="en-US" sz="2400" b="1" dirty="0">
                <a:solidFill>
                  <a:srgbClr val="7E22CE"/>
                </a:solidFill>
                <a:latin typeface="Aptos"/>
              </a:rPr>
              <a:t> </a:t>
            </a:r>
            <a:r>
              <a:rPr sz="2400" b="1" dirty="0">
                <a:solidFill>
                  <a:srgbClr val="7E22CE"/>
                </a:solidFill>
                <a:latin typeface="Aptos"/>
              </a:rPr>
              <a:t>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8794" y="2229959"/>
            <a:ext cx="909828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 dirty="0">
                <a:solidFill>
                  <a:srgbClr val="1F2937"/>
                </a:solidFill>
                <a:latin typeface="Aptos"/>
              </a:rPr>
              <a:t>candidate
mAb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62040" y="2212457"/>
            <a:ext cx="123444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 dirty="0">
                <a:solidFill>
                  <a:srgbClr val="1F2937"/>
                </a:solidFill>
                <a:latin typeface="Aptos"/>
              </a:rPr>
              <a:t>in vitro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6989" y="2212457"/>
            <a:ext cx="13880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en-US" sz="1200" b="1" dirty="0">
                <a:solidFill>
                  <a:srgbClr val="1F2937"/>
                </a:solidFill>
                <a:latin typeface="Aptos"/>
              </a:rPr>
              <a:t>single-dose in vivo </a:t>
            </a:r>
            <a:r>
              <a:rPr sz="1200" b="1" dirty="0">
                <a:solidFill>
                  <a:srgbClr val="1F2937"/>
                </a:solidFill>
                <a:latin typeface="Aptos"/>
              </a:rPr>
              <a:t>PK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91518" y="2212457"/>
            <a:ext cx="13880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 dirty="0">
                <a:solidFill>
                  <a:srgbClr val="1F2937"/>
                </a:solidFill>
                <a:latin typeface="Aptos"/>
              </a:rPr>
              <a:t>repeat-dose</a:t>
            </a:r>
            <a:r>
              <a:rPr lang="en-US" sz="1200" b="1" dirty="0">
                <a:solidFill>
                  <a:srgbClr val="1F2937"/>
                </a:solidFill>
                <a:latin typeface="Aptos"/>
              </a:rPr>
              <a:t> in vivo</a:t>
            </a:r>
            <a:r>
              <a:rPr sz="1200" b="1" dirty="0">
                <a:solidFill>
                  <a:srgbClr val="1F2937"/>
                </a:solidFill>
                <a:latin typeface="Aptos"/>
              </a:rPr>
              <a:t> </a:t>
            </a:r>
            <a:r>
              <a:rPr lang="en-US" sz="1200" b="1" dirty="0">
                <a:solidFill>
                  <a:srgbClr val="1F2937"/>
                </a:solidFill>
                <a:latin typeface="Aptos"/>
              </a:rPr>
              <a:t>PK</a:t>
            </a:r>
            <a:endParaRPr sz="1200" b="1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750065" y="2195307"/>
            <a:ext cx="1434618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 dirty="0">
                <a:solidFill>
                  <a:srgbClr val="1F2937"/>
                </a:solidFill>
                <a:latin typeface="Aptos"/>
              </a:rPr>
              <a:t>top-down
</a:t>
            </a:r>
            <a:r>
              <a:rPr lang="en-US" sz="1200" b="1" dirty="0">
                <a:solidFill>
                  <a:srgbClr val="1F2937"/>
                </a:solidFill>
                <a:latin typeface="Aptos"/>
              </a:rPr>
              <a:t>modeling and allometric scaling</a:t>
            </a:r>
            <a:endParaRPr sz="1200" b="1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670199" y="2212457"/>
            <a:ext cx="1177586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 dirty="0">
                <a:solidFill>
                  <a:srgbClr val="1F2937"/>
                </a:solidFill>
                <a:latin typeface="Aptos"/>
              </a:rPr>
              <a:t>FIH</a:t>
            </a:r>
            <a:r>
              <a:rPr lang="en-US" sz="1200" b="1" dirty="0">
                <a:solidFill>
                  <a:srgbClr val="1F2937"/>
                </a:solidFill>
                <a:latin typeface="Aptos"/>
              </a:rPr>
              <a:t> (human PK)</a:t>
            </a:r>
            <a:endParaRPr sz="1200" b="1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2198622" y="2463131"/>
            <a:ext cx="447226" cy="45719"/>
          </a:xfrm>
          <a:prstGeom prst="rightArrow">
            <a:avLst/>
          </a:prstGeom>
          <a:solidFill>
            <a:srgbClr val="B2BEC9"/>
          </a:solidFill>
          <a:ln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7" name="Right Arrow 16"/>
          <p:cNvSpPr/>
          <p:nvPr/>
        </p:nvSpPr>
        <p:spPr>
          <a:xfrm>
            <a:off x="3896480" y="2445629"/>
            <a:ext cx="340509" cy="45719"/>
          </a:xfrm>
          <a:prstGeom prst="rightArrow">
            <a:avLst/>
          </a:prstGeom>
          <a:solidFill>
            <a:srgbClr val="B2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8" name="Right Arrow 17"/>
          <p:cNvSpPr/>
          <p:nvPr/>
        </p:nvSpPr>
        <p:spPr>
          <a:xfrm>
            <a:off x="5650477" y="2445629"/>
            <a:ext cx="315081" cy="45719"/>
          </a:xfrm>
          <a:prstGeom prst="rightArrow">
            <a:avLst/>
          </a:prstGeom>
          <a:solidFill>
            <a:srgbClr val="B2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9" name="Right Arrow 18"/>
          <p:cNvSpPr/>
          <p:nvPr/>
        </p:nvSpPr>
        <p:spPr>
          <a:xfrm>
            <a:off x="7381114" y="2436484"/>
            <a:ext cx="364933" cy="45719"/>
          </a:xfrm>
          <a:prstGeom prst="rightArrow">
            <a:avLst/>
          </a:prstGeom>
          <a:solidFill>
            <a:srgbClr val="B2BEC9"/>
          </a:solidFill>
          <a:ln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Right Arrow 19"/>
          <p:cNvSpPr/>
          <p:nvPr/>
        </p:nvSpPr>
        <p:spPr>
          <a:xfrm flipV="1">
            <a:off x="9203313" y="2461741"/>
            <a:ext cx="466886" cy="45719"/>
          </a:xfrm>
          <a:prstGeom prst="rightArrow">
            <a:avLst/>
          </a:prstGeom>
          <a:solidFill>
            <a:srgbClr val="B2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21" name="Right Arrow 20"/>
          <p:cNvSpPr/>
          <p:nvPr/>
        </p:nvSpPr>
        <p:spPr>
          <a:xfrm flipH="1">
            <a:off x="11620244" y="2465632"/>
            <a:ext cx="73153" cy="45719"/>
          </a:xfrm>
          <a:prstGeom prst="rightArrow">
            <a:avLst/>
          </a:prstGeom>
          <a:solidFill>
            <a:srgbClr val="B2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22" name="TextBox 21"/>
          <p:cNvSpPr txBox="1"/>
          <p:nvPr/>
        </p:nvSpPr>
        <p:spPr>
          <a:xfrm>
            <a:off x="2662040" y="1743370"/>
            <a:ext cx="1234440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002060"/>
                </a:solidFill>
                <a:latin typeface="Aptos"/>
              </a:rPr>
              <a:t>2–6 wk
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36989" y="1703568"/>
            <a:ext cx="1234440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  <a:latin typeface="Aptos"/>
              </a:rPr>
              <a:t>4-6 wk
12–18 animals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9031" y="1668334"/>
            <a:ext cx="1508760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  <a:latin typeface="Aptos"/>
              </a:rPr>
              <a:t>2</a:t>
            </a:r>
            <a:r>
              <a:rPr sz="1200" b="1" dirty="0">
                <a:solidFill>
                  <a:srgbClr val="002060"/>
                </a:solidFill>
                <a:latin typeface="Aptos"/>
              </a:rPr>
              <a:t>–</a:t>
            </a:r>
            <a:r>
              <a:rPr lang="en-US" sz="1200" b="1" dirty="0">
                <a:solidFill>
                  <a:srgbClr val="002060"/>
                </a:solidFill>
                <a:latin typeface="Aptos"/>
              </a:rPr>
              <a:t>4</a:t>
            </a:r>
            <a:r>
              <a:rPr sz="1200" b="1" dirty="0">
                <a:solidFill>
                  <a:srgbClr val="002060"/>
                </a:solidFill>
                <a:latin typeface="Aptos"/>
              </a:rPr>
              <a:t> mo 
+12–24+ </a:t>
            </a:r>
            <a:r>
              <a:rPr lang="en-US" sz="1200" b="1" dirty="0">
                <a:solidFill>
                  <a:srgbClr val="002060"/>
                </a:solidFill>
                <a:latin typeface="Aptos"/>
              </a:rPr>
              <a:t>animals</a:t>
            </a:r>
            <a:endParaRPr sz="1200" b="1" dirty="0">
              <a:solidFill>
                <a:srgbClr val="002060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2210" y="1709753"/>
            <a:ext cx="1188720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002060"/>
                </a:solidFill>
                <a:latin typeface="Aptos"/>
              </a:rPr>
              <a:t>2–</a:t>
            </a:r>
            <a:r>
              <a:rPr lang="en-US" sz="1200" b="1" dirty="0">
                <a:solidFill>
                  <a:srgbClr val="002060"/>
                </a:solidFill>
                <a:latin typeface="Aptos"/>
              </a:rPr>
              <a:t>4</a:t>
            </a:r>
            <a:r>
              <a:rPr sz="1200" b="1" dirty="0">
                <a:solidFill>
                  <a:srgbClr val="002060"/>
                </a:solidFill>
                <a:latin typeface="Aptos"/>
              </a:rPr>
              <a:t> wk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25640" y="2900085"/>
            <a:ext cx="307238" cy="16093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37" name="Oval 36"/>
          <p:cNvSpPr/>
          <p:nvPr/>
        </p:nvSpPr>
        <p:spPr>
          <a:xfrm>
            <a:off x="3172458" y="2929346"/>
            <a:ext cx="38039" cy="38039"/>
          </a:xfrm>
          <a:prstGeom prst="ellipse">
            <a:avLst/>
          </a:prstGeom>
          <a:solidFill>
            <a:srgbClr val="E8F5FC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38" name="Oval 37"/>
          <p:cNvSpPr/>
          <p:nvPr/>
        </p:nvSpPr>
        <p:spPr>
          <a:xfrm>
            <a:off x="3172458" y="2993720"/>
            <a:ext cx="38039" cy="38039"/>
          </a:xfrm>
          <a:prstGeom prst="ellipse">
            <a:avLst/>
          </a:prstGeom>
          <a:solidFill>
            <a:srgbClr val="E8F5FC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39" name="Oval 38"/>
          <p:cNvSpPr/>
          <p:nvPr/>
        </p:nvSpPr>
        <p:spPr>
          <a:xfrm>
            <a:off x="3260240" y="2929346"/>
            <a:ext cx="38039" cy="38039"/>
          </a:xfrm>
          <a:prstGeom prst="ellipse">
            <a:avLst/>
          </a:prstGeom>
          <a:solidFill>
            <a:srgbClr val="E8F5FC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40" name="Oval 39"/>
          <p:cNvSpPr/>
          <p:nvPr/>
        </p:nvSpPr>
        <p:spPr>
          <a:xfrm>
            <a:off x="3260240" y="2993720"/>
            <a:ext cx="38039" cy="38039"/>
          </a:xfrm>
          <a:prstGeom prst="ellipse">
            <a:avLst/>
          </a:prstGeom>
          <a:solidFill>
            <a:srgbClr val="E8F5FC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41" name="Oval 40"/>
          <p:cNvSpPr/>
          <p:nvPr/>
        </p:nvSpPr>
        <p:spPr>
          <a:xfrm>
            <a:off x="3348022" y="2929346"/>
            <a:ext cx="38039" cy="38039"/>
          </a:xfrm>
          <a:prstGeom prst="ellipse">
            <a:avLst/>
          </a:prstGeom>
          <a:solidFill>
            <a:srgbClr val="E8F5FC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42" name="Oval 41"/>
          <p:cNvSpPr/>
          <p:nvPr/>
        </p:nvSpPr>
        <p:spPr>
          <a:xfrm>
            <a:off x="3348022" y="2993720"/>
            <a:ext cx="38039" cy="38039"/>
          </a:xfrm>
          <a:prstGeom prst="ellipse">
            <a:avLst/>
          </a:prstGeom>
          <a:solidFill>
            <a:srgbClr val="E8F5FC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57" name="Rectangle 56"/>
          <p:cNvSpPr/>
          <p:nvPr/>
        </p:nvSpPr>
        <p:spPr>
          <a:xfrm>
            <a:off x="8319236" y="2900085"/>
            <a:ext cx="29260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cxnSp>
        <p:nvCxnSpPr>
          <p:cNvPr id="58" name="Connector 57"/>
          <p:cNvCxnSpPr>
            <a:cxnSpLocks/>
          </p:cNvCxnSpPr>
          <p:nvPr/>
        </p:nvCxnSpPr>
        <p:spPr>
          <a:xfrm flipV="1">
            <a:off x="8370442" y="2958606"/>
            <a:ext cx="65837" cy="36576"/>
          </a:xfrm>
          <a:prstGeom prst="line">
            <a:avLst/>
          </a:prstGeom>
          <a:ln w="10795">
            <a:solidFill>
              <a:srgbClr val="7E22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>
            <a:cxnSpLocks/>
          </p:cNvCxnSpPr>
          <p:nvPr/>
        </p:nvCxnSpPr>
        <p:spPr>
          <a:xfrm>
            <a:off x="8436279" y="2958606"/>
            <a:ext cx="58521" cy="21946"/>
          </a:xfrm>
          <a:prstGeom prst="line">
            <a:avLst/>
          </a:prstGeom>
          <a:ln w="10795">
            <a:solidFill>
              <a:srgbClr val="7E22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>
            <a:cxnSpLocks/>
          </p:cNvCxnSpPr>
          <p:nvPr/>
        </p:nvCxnSpPr>
        <p:spPr>
          <a:xfrm flipV="1">
            <a:off x="8494800" y="2943976"/>
            <a:ext cx="61448" cy="36576"/>
          </a:xfrm>
          <a:prstGeom prst="line">
            <a:avLst/>
          </a:prstGeom>
          <a:ln w="10795">
            <a:solidFill>
              <a:srgbClr val="7E22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>
            <a:cxnSpLocks/>
          </p:cNvCxnSpPr>
          <p:nvPr/>
        </p:nvCxnSpPr>
        <p:spPr>
          <a:xfrm>
            <a:off x="8465540" y="3046389"/>
            <a:ext cx="0" cy="36576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>
            <a:cxnSpLocks/>
          </p:cNvCxnSpPr>
          <p:nvPr/>
        </p:nvCxnSpPr>
        <p:spPr>
          <a:xfrm>
            <a:off x="8424574" y="3082965"/>
            <a:ext cx="81931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9582374" y="1504728"/>
            <a:ext cx="1353236" cy="52087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2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7E22CE"/>
                </a:solidFill>
                <a:latin typeface="Aptos"/>
              </a:rPr>
              <a:t>~</a:t>
            </a:r>
            <a:r>
              <a:rPr lang="en-US" sz="1400" b="1" dirty="0">
                <a:solidFill>
                  <a:srgbClr val="7E22CE"/>
                </a:solidFill>
                <a:latin typeface="Aptos"/>
              </a:rPr>
              <a:t>20-4</a:t>
            </a:r>
            <a:r>
              <a:rPr sz="1400" b="1" dirty="0">
                <a:solidFill>
                  <a:srgbClr val="7E22CE"/>
                </a:solidFill>
                <a:latin typeface="Aptos"/>
              </a:rPr>
              <a:t>2 </a:t>
            </a:r>
            <a:r>
              <a:rPr lang="en-US" sz="1400" b="1" dirty="0">
                <a:solidFill>
                  <a:srgbClr val="7E22CE"/>
                </a:solidFill>
                <a:latin typeface="Aptos"/>
              </a:rPr>
              <a:t>animals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934591" y="4753467"/>
            <a:ext cx="13716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 dirty="0">
                <a:solidFill>
                  <a:srgbClr val="1F2937"/>
                </a:solidFill>
                <a:latin typeface="Aptos"/>
              </a:rPr>
              <a:t>targeted in vitro
parameter</a:t>
            </a:r>
            <a:r>
              <a:rPr lang="en-US" sz="1200" b="1" dirty="0">
                <a:solidFill>
                  <a:srgbClr val="1F2937"/>
                </a:solidFill>
                <a:latin typeface="Aptos"/>
              </a:rPr>
              <a:t>s</a:t>
            </a:r>
            <a:r>
              <a:rPr sz="1200" b="1" dirty="0">
                <a:solidFill>
                  <a:srgbClr val="1F2937"/>
                </a:solidFill>
                <a:latin typeface="Aptos"/>
              </a:rPr>
              <a:t>
package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735959" y="4753467"/>
            <a:ext cx="1271757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en-US" sz="1200" b="1" dirty="0">
                <a:solidFill>
                  <a:srgbClr val="1F2937"/>
                </a:solidFill>
                <a:latin typeface="Aptos"/>
              </a:rPr>
              <a:t>a priori </a:t>
            </a:r>
            <a:r>
              <a:rPr sz="1200" b="1" dirty="0">
                <a:solidFill>
                  <a:srgbClr val="1F2937"/>
                </a:solidFill>
                <a:latin typeface="Aptos"/>
              </a:rPr>
              <a:t>PBPK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69725" y="4753467"/>
            <a:ext cx="1271758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en-US" sz="1200" b="1" dirty="0">
                <a:solidFill>
                  <a:srgbClr val="1F2937"/>
                </a:solidFill>
                <a:latin typeface="Aptos"/>
              </a:rPr>
              <a:t>reduced in vivo PK</a:t>
            </a:r>
          </a:p>
        </p:txBody>
      </p:sp>
      <p:sp>
        <p:nvSpPr>
          <p:cNvPr id="79" name="Diamond 78"/>
          <p:cNvSpPr/>
          <p:nvPr/>
        </p:nvSpPr>
        <p:spPr>
          <a:xfrm>
            <a:off x="7052497" y="4726056"/>
            <a:ext cx="1639424" cy="658368"/>
          </a:xfrm>
          <a:prstGeom prst="diamond">
            <a:avLst/>
          </a:prstGeom>
          <a:solidFill>
            <a:srgbClr val="FAF5FF"/>
          </a:solidFill>
          <a:ln w="17780">
            <a:solidFill>
              <a:srgbClr val="C02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lang="en-US" sz="1100" b="1" dirty="0">
                <a:solidFill>
                  <a:srgbClr val="1F2937"/>
                </a:solidFill>
                <a:latin typeface="Aptos"/>
              </a:rPr>
              <a:t>predictions meet criteria?</a:t>
            </a:r>
            <a:endParaRPr sz="1100" b="1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8499897" y="4726055"/>
            <a:ext cx="384048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dirty="0">
                <a:solidFill>
                  <a:srgbClr val="7E22CE"/>
                </a:solidFill>
                <a:latin typeface="Aptos"/>
              </a:rPr>
              <a:t>Yes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89565" y="5400275"/>
            <a:ext cx="320040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dirty="0">
                <a:solidFill>
                  <a:srgbClr val="7030A0"/>
                </a:solidFill>
                <a:latin typeface="Aptos"/>
              </a:rPr>
              <a:t>No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67460" y="5468568"/>
            <a:ext cx="1616399" cy="88331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lang="en-US" sz="1100" b="1" dirty="0">
                <a:solidFill>
                  <a:srgbClr val="7030A0"/>
                </a:solidFill>
                <a:latin typeface="Aptos"/>
              </a:rPr>
              <a:t>refine PBPK
with observed PK; additional confirmatory in vivo PK, only if needed)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28534" y="4278864"/>
            <a:ext cx="1572768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  <a:latin typeface="Aptos"/>
              </a:rPr>
              <a:t>2</a:t>
            </a:r>
            <a:r>
              <a:rPr sz="1200" b="1" dirty="0">
                <a:solidFill>
                  <a:srgbClr val="002060"/>
                </a:solidFill>
                <a:latin typeface="Aptos"/>
              </a:rPr>
              <a:t>–6 wk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58675" y="4315534"/>
            <a:ext cx="1691640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002060"/>
                </a:solidFill>
                <a:latin typeface="Aptos"/>
              </a:rPr>
              <a:t>1–2 wk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26216" y="5386946"/>
            <a:ext cx="29260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cxnSp>
        <p:nvCxnSpPr>
          <p:cNvPr id="113" name="Connector 112"/>
          <p:cNvCxnSpPr>
            <a:cxnSpLocks/>
          </p:cNvCxnSpPr>
          <p:nvPr/>
        </p:nvCxnSpPr>
        <p:spPr>
          <a:xfrm flipV="1">
            <a:off x="4277422" y="5445467"/>
            <a:ext cx="65837" cy="36576"/>
          </a:xfrm>
          <a:prstGeom prst="line">
            <a:avLst/>
          </a:prstGeom>
          <a:ln w="10795">
            <a:solidFill>
              <a:srgbClr val="7E22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>
            <a:cxnSpLocks/>
          </p:cNvCxnSpPr>
          <p:nvPr/>
        </p:nvCxnSpPr>
        <p:spPr>
          <a:xfrm>
            <a:off x="4343259" y="5445467"/>
            <a:ext cx="58521" cy="21946"/>
          </a:xfrm>
          <a:prstGeom prst="line">
            <a:avLst/>
          </a:prstGeom>
          <a:ln w="10795">
            <a:solidFill>
              <a:srgbClr val="7E22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>
            <a:cxnSpLocks/>
          </p:cNvCxnSpPr>
          <p:nvPr/>
        </p:nvCxnSpPr>
        <p:spPr>
          <a:xfrm flipV="1">
            <a:off x="4401780" y="5430837"/>
            <a:ext cx="61448" cy="36576"/>
          </a:xfrm>
          <a:prstGeom prst="line">
            <a:avLst/>
          </a:prstGeom>
          <a:ln w="10795">
            <a:solidFill>
              <a:srgbClr val="7E22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>
            <a:cxnSpLocks/>
          </p:cNvCxnSpPr>
          <p:nvPr/>
        </p:nvCxnSpPr>
        <p:spPr>
          <a:xfrm>
            <a:off x="4372520" y="5533250"/>
            <a:ext cx="0" cy="36576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>
            <a:cxnSpLocks/>
          </p:cNvCxnSpPr>
          <p:nvPr/>
        </p:nvCxnSpPr>
        <p:spPr>
          <a:xfrm>
            <a:off x="4331554" y="5569826"/>
            <a:ext cx="81931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6" name="Graphic 135" descr="Monkey outline">
            <a:extLst>
              <a:ext uri="{FF2B5EF4-FFF2-40B4-BE49-F238E27FC236}">
                <a16:creationId xmlns:a16="http://schemas.microsoft.com/office/drawing/2014/main" id="{189CE017-B080-F689-C3AA-02D7B58A2C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15367" y="2826933"/>
            <a:ext cx="321869" cy="321869"/>
          </a:xfrm>
          <a:prstGeom prst="rect">
            <a:avLst/>
          </a:prstGeom>
        </p:spPr>
      </p:pic>
      <p:pic>
        <p:nvPicPr>
          <p:cNvPr id="137" name="Graphic 136" descr="Monkey outline">
            <a:extLst>
              <a:ext uri="{FF2B5EF4-FFF2-40B4-BE49-F238E27FC236}">
                <a16:creationId xmlns:a16="http://schemas.microsoft.com/office/drawing/2014/main" id="{15B27BC3-5042-DF17-7CB2-9FFA8EDBE6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51530" y="2832785"/>
            <a:ext cx="321869" cy="321869"/>
          </a:xfrm>
          <a:prstGeom prst="rect">
            <a:avLst/>
          </a:prstGeom>
        </p:spPr>
      </p:pic>
      <p:pic>
        <p:nvPicPr>
          <p:cNvPr id="139" name="Graphic 138" descr="Man outline">
            <a:extLst>
              <a:ext uri="{FF2B5EF4-FFF2-40B4-BE49-F238E27FC236}">
                <a16:creationId xmlns:a16="http://schemas.microsoft.com/office/drawing/2014/main" id="{EF7E6FD8-4E48-F1A5-22CF-36A5B5F91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2025" y="2801172"/>
            <a:ext cx="473933" cy="473933"/>
          </a:xfrm>
          <a:prstGeom prst="rect">
            <a:avLst/>
          </a:prstGeom>
        </p:spPr>
      </p:pic>
      <p:sp>
        <p:nvSpPr>
          <p:cNvPr id="140" name="Rounded Rectangle 8">
            <a:extLst>
              <a:ext uri="{FF2B5EF4-FFF2-40B4-BE49-F238E27FC236}">
                <a16:creationId xmlns:a16="http://schemas.microsoft.com/office/drawing/2014/main" id="{5FE52383-1FA4-8DF1-D7A0-46C067924E14}"/>
              </a:ext>
            </a:extLst>
          </p:cNvPr>
          <p:cNvSpPr/>
          <p:nvPr/>
        </p:nvSpPr>
        <p:spPr>
          <a:xfrm>
            <a:off x="621982" y="4735179"/>
            <a:ext cx="909828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 dirty="0">
                <a:solidFill>
                  <a:srgbClr val="1F2937"/>
                </a:solidFill>
                <a:latin typeface="Aptos"/>
              </a:rPr>
              <a:t>candidate
mAb</a:t>
            </a:r>
          </a:p>
        </p:txBody>
      </p:sp>
      <p:sp>
        <p:nvSpPr>
          <p:cNvPr id="148" name="Rounded Rectangle 35">
            <a:extLst>
              <a:ext uri="{FF2B5EF4-FFF2-40B4-BE49-F238E27FC236}">
                <a16:creationId xmlns:a16="http://schemas.microsoft.com/office/drawing/2014/main" id="{B8E03203-04A7-6139-7AA4-522415D12F36}"/>
              </a:ext>
            </a:extLst>
          </p:cNvPr>
          <p:cNvSpPr/>
          <p:nvPr/>
        </p:nvSpPr>
        <p:spPr>
          <a:xfrm>
            <a:off x="2409165" y="5371014"/>
            <a:ext cx="307238" cy="16093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BBA34CFB-9EF9-3352-E60C-8D8816E11BF2}"/>
              </a:ext>
            </a:extLst>
          </p:cNvPr>
          <p:cNvSpPr/>
          <p:nvPr/>
        </p:nvSpPr>
        <p:spPr>
          <a:xfrm>
            <a:off x="2455983" y="5400275"/>
            <a:ext cx="38039" cy="38039"/>
          </a:xfrm>
          <a:prstGeom prst="ellipse">
            <a:avLst/>
          </a:prstGeom>
          <a:solidFill>
            <a:srgbClr val="E8F5FC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E24CABCE-3A6E-7C1E-1A10-9095A1F6CACF}"/>
              </a:ext>
            </a:extLst>
          </p:cNvPr>
          <p:cNvSpPr/>
          <p:nvPr/>
        </p:nvSpPr>
        <p:spPr>
          <a:xfrm>
            <a:off x="2455983" y="5464649"/>
            <a:ext cx="38039" cy="38039"/>
          </a:xfrm>
          <a:prstGeom prst="ellipse">
            <a:avLst/>
          </a:prstGeom>
          <a:solidFill>
            <a:srgbClr val="E8F5FC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2E0939DA-D8E3-1C43-A62F-8DABB90F0F32}"/>
              </a:ext>
            </a:extLst>
          </p:cNvPr>
          <p:cNvSpPr/>
          <p:nvPr/>
        </p:nvSpPr>
        <p:spPr>
          <a:xfrm>
            <a:off x="2543765" y="5400275"/>
            <a:ext cx="38039" cy="38039"/>
          </a:xfrm>
          <a:prstGeom prst="ellipse">
            <a:avLst/>
          </a:prstGeom>
          <a:solidFill>
            <a:srgbClr val="E8F5FC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F09F0F9D-CDDC-35BB-A368-17494FE4F72A}"/>
              </a:ext>
            </a:extLst>
          </p:cNvPr>
          <p:cNvSpPr/>
          <p:nvPr/>
        </p:nvSpPr>
        <p:spPr>
          <a:xfrm>
            <a:off x="2543765" y="5464649"/>
            <a:ext cx="38039" cy="38039"/>
          </a:xfrm>
          <a:prstGeom prst="ellipse">
            <a:avLst/>
          </a:prstGeom>
          <a:solidFill>
            <a:srgbClr val="E8F5FC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D4F8C91A-E4C4-8ED8-913F-B3647F999BCC}"/>
              </a:ext>
            </a:extLst>
          </p:cNvPr>
          <p:cNvSpPr/>
          <p:nvPr/>
        </p:nvSpPr>
        <p:spPr>
          <a:xfrm>
            <a:off x="2631547" y="5400275"/>
            <a:ext cx="38039" cy="38039"/>
          </a:xfrm>
          <a:prstGeom prst="ellipse">
            <a:avLst/>
          </a:prstGeom>
          <a:solidFill>
            <a:srgbClr val="E8F5FC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240EFCBD-EF82-40C5-049D-4412E971D110}"/>
              </a:ext>
            </a:extLst>
          </p:cNvPr>
          <p:cNvSpPr/>
          <p:nvPr/>
        </p:nvSpPr>
        <p:spPr>
          <a:xfrm>
            <a:off x="2631547" y="5464649"/>
            <a:ext cx="38039" cy="38039"/>
          </a:xfrm>
          <a:prstGeom prst="ellipse">
            <a:avLst/>
          </a:prstGeom>
          <a:solidFill>
            <a:srgbClr val="E8F5FC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B0B9FA6B-0089-ECCA-7DD0-1DBEA87EE8C2}"/>
              </a:ext>
            </a:extLst>
          </p:cNvPr>
          <p:cNvSpPr txBox="1"/>
          <p:nvPr/>
        </p:nvSpPr>
        <p:spPr>
          <a:xfrm>
            <a:off x="5427599" y="4153446"/>
            <a:ext cx="11734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  <a:latin typeface="Aptos"/>
              </a:rPr>
              <a:t>4-6 wk
6-9 animals</a:t>
            </a:r>
          </a:p>
        </p:txBody>
      </p:sp>
      <p:pic>
        <p:nvPicPr>
          <p:cNvPr id="161" name="Graphic 160" descr="Man outline">
            <a:extLst>
              <a:ext uri="{FF2B5EF4-FFF2-40B4-BE49-F238E27FC236}">
                <a16:creationId xmlns:a16="http://schemas.microsoft.com/office/drawing/2014/main" id="{B9AA4034-2064-BE1A-89B4-A3EDE6148F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302" y="5350370"/>
            <a:ext cx="473933" cy="473933"/>
          </a:xfrm>
          <a:prstGeom prst="rect">
            <a:avLst/>
          </a:prstGeom>
        </p:spPr>
      </p:pic>
      <p:pic>
        <p:nvPicPr>
          <p:cNvPr id="163" name="Graphic 162" descr="Monkey outline">
            <a:extLst>
              <a:ext uri="{FF2B5EF4-FFF2-40B4-BE49-F238E27FC236}">
                <a16:creationId xmlns:a16="http://schemas.microsoft.com/office/drawing/2014/main" id="{4D791292-6863-B38B-29E9-8F08D95774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58511" y="5352606"/>
            <a:ext cx="321869" cy="321869"/>
          </a:xfrm>
          <a:prstGeom prst="rect">
            <a:avLst/>
          </a:prstGeom>
        </p:spPr>
      </p:pic>
      <p:sp>
        <p:nvSpPr>
          <p:cNvPr id="181" name="Rounded Rectangle 73">
            <a:extLst>
              <a:ext uri="{FF2B5EF4-FFF2-40B4-BE49-F238E27FC236}">
                <a16:creationId xmlns:a16="http://schemas.microsoft.com/office/drawing/2014/main" id="{065BC005-0ECA-8727-488C-9CD79CE871B6}"/>
              </a:ext>
            </a:extLst>
          </p:cNvPr>
          <p:cNvSpPr/>
          <p:nvPr/>
        </p:nvSpPr>
        <p:spPr>
          <a:xfrm>
            <a:off x="10209288" y="4030902"/>
            <a:ext cx="1173480" cy="52087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2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7E22CE"/>
                </a:solidFill>
                <a:latin typeface="Aptos"/>
              </a:rPr>
              <a:t>~</a:t>
            </a:r>
            <a:r>
              <a:rPr lang="en-US" sz="1400" b="1" dirty="0">
                <a:solidFill>
                  <a:srgbClr val="7E22CE"/>
                </a:solidFill>
                <a:latin typeface="Aptos"/>
              </a:rPr>
              <a:t>6-12 animals</a:t>
            </a:r>
            <a:endParaRPr sz="1400" b="1" dirty="0">
              <a:solidFill>
                <a:srgbClr val="7E22CE"/>
              </a:solidFill>
              <a:latin typeface="Aptos"/>
            </a:endParaRPr>
          </a:p>
        </p:txBody>
      </p:sp>
      <p:sp>
        <p:nvSpPr>
          <p:cNvPr id="182" name="Rounded Rectangle 13">
            <a:extLst>
              <a:ext uri="{FF2B5EF4-FFF2-40B4-BE49-F238E27FC236}">
                <a16:creationId xmlns:a16="http://schemas.microsoft.com/office/drawing/2014/main" id="{2C7F9AA0-11B8-0DA8-9474-9ED4FF39EA36}"/>
              </a:ext>
            </a:extLst>
          </p:cNvPr>
          <p:cNvSpPr/>
          <p:nvPr/>
        </p:nvSpPr>
        <p:spPr>
          <a:xfrm>
            <a:off x="10209288" y="4735179"/>
            <a:ext cx="117348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 dirty="0">
                <a:solidFill>
                  <a:srgbClr val="1F2937"/>
                </a:solidFill>
                <a:latin typeface="Aptos"/>
              </a:rPr>
              <a:t>FIH</a:t>
            </a:r>
            <a:r>
              <a:rPr lang="en-US" sz="1200" b="1" dirty="0">
                <a:solidFill>
                  <a:srgbClr val="1F2937"/>
                </a:solidFill>
                <a:latin typeface="Aptos"/>
              </a:rPr>
              <a:t> (human PK)</a:t>
            </a:r>
            <a:endParaRPr sz="1200" b="1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86" name="Right Arrow 16">
            <a:extLst>
              <a:ext uri="{FF2B5EF4-FFF2-40B4-BE49-F238E27FC236}">
                <a16:creationId xmlns:a16="http://schemas.microsoft.com/office/drawing/2014/main" id="{96A063AF-A0EE-30B1-085C-27CFC080C990}"/>
              </a:ext>
            </a:extLst>
          </p:cNvPr>
          <p:cNvSpPr/>
          <p:nvPr/>
        </p:nvSpPr>
        <p:spPr>
          <a:xfrm>
            <a:off x="3294304" y="5011279"/>
            <a:ext cx="457199" cy="64008"/>
          </a:xfrm>
          <a:prstGeom prst="rightArrow">
            <a:avLst/>
          </a:prstGeom>
          <a:solidFill>
            <a:srgbClr val="B2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87" name="Right Arrow 16">
            <a:extLst>
              <a:ext uri="{FF2B5EF4-FFF2-40B4-BE49-F238E27FC236}">
                <a16:creationId xmlns:a16="http://schemas.microsoft.com/office/drawing/2014/main" id="{97D3FE8A-DBCA-03B6-CB00-B0DBCE60FE0B}"/>
              </a:ext>
            </a:extLst>
          </p:cNvPr>
          <p:cNvSpPr/>
          <p:nvPr/>
        </p:nvSpPr>
        <p:spPr>
          <a:xfrm>
            <a:off x="1527239" y="4979275"/>
            <a:ext cx="434339" cy="45719"/>
          </a:xfrm>
          <a:prstGeom prst="rightArrow">
            <a:avLst/>
          </a:prstGeom>
          <a:solidFill>
            <a:srgbClr val="B2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89" name="Right Arrow 16">
            <a:extLst>
              <a:ext uri="{FF2B5EF4-FFF2-40B4-BE49-F238E27FC236}">
                <a16:creationId xmlns:a16="http://schemas.microsoft.com/office/drawing/2014/main" id="{45FEE88C-9D81-BF62-4188-4C53BD6C0584}"/>
              </a:ext>
            </a:extLst>
          </p:cNvPr>
          <p:cNvSpPr/>
          <p:nvPr/>
        </p:nvSpPr>
        <p:spPr>
          <a:xfrm>
            <a:off x="6741483" y="5031580"/>
            <a:ext cx="334177" cy="45719"/>
          </a:xfrm>
          <a:prstGeom prst="rightArrow">
            <a:avLst/>
          </a:prstGeom>
          <a:solidFill>
            <a:srgbClr val="B2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192" name="Right Arrow 16">
            <a:extLst>
              <a:ext uri="{FF2B5EF4-FFF2-40B4-BE49-F238E27FC236}">
                <a16:creationId xmlns:a16="http://schemas.microsoft.com/office/drawing/2014/main" id="{E5A49988-AACE-9D1A-6C3F-9188FBF026EC}"/>
              </a:ext>
            </a:extLst>
          </p:cNvPr>
          <p:cNvSpPr/>
          <p:nvPr/>
        </p:nvSpPr>
        <p:spPr>
          <a:xfrm>
            <a:off x="5015375" y="5018642"/>
            <a:ext cx="448231" cy="45719"/>
          </a:xfrm>
          <a:prstGeom prst="rightArrow">
            <a:avLst/>
          </a:prstGeom>
          <a:solidFill>
            <a:srgbClr val="B2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34" name="Rounded Rectangle 11">
            <a:extLst>
              <a:ext uri="{FF2B5EF4-FFF2-40B4-BE49-F238E27FC236}">
                <a16:creationId xmlns:a16="http://schemas.microsoft.com/office/drawing/2014/main" id="{7735BE66-542B-8029-3910-7EA2A7CA52A8}"/>
              </a:ext>
            </a:extLst>
          </p:cNvPr>
          <p:cNvSpPr/>
          <p:nvPr/>
        </p:nvSpPr>
        <p:spPr>
          <a:xfrm>
            <a:off x="8947567" y="4783698"/>
            <a:ext cx="950337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2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 dirty="0">
                <a:solidFill>
                  <a:srgbClr val="1F2937"/>
                </a:solidFill>
                <a:latin typeface="Aptos"/>
              </a:rPr>
              <a:t>repeat-dose</a:t>
            </a:r>
            <a:r>
              <a:rPr lang="en-US" sz="1200" b="1" dirty="0">
                <a:solidFill>
                  <a:srgbClr val="1F2937"/>
                </a:solidFill>
                <a:latin typeface="Aptos"/>
              </a:rPr>
              <a:t> simulations</a:t>
            </a:r>
            <a:endParaRPr sz="1200" b="1" dirty="0">
              <a:solidFill>
                <a:srgbClr val="1F2937"/>
              </a:solidFill>
              <a:latin typeface="Aptos"/>
            </a:endParaRP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F4066661-97A4-5938-AD5B-C9FA8B4DEB3F}"/>
              </a:ext>
            </a:extLst>
          </p:cNvPr>
          <p:cNvCxnSpPr>
            <a:cxnSpLocks/>
            <a:stCxn id="79" idx="2"/>
          </p:cNvCxnSpPr>
          <p:nvPr/>
        </p:nvCxnSpPr>
        <p:spPr>
          <a:xfrm rot="5400000" flipH="1">
            <a:off x="6268383" y="3780598"/>
            <a:ext cx="44480" cy="3163173"/>
          </a:xfrm>
          <a:prstGeom prst="bentConnector4">
            <a:avLst>
              <a:gd name="adj1" fmla="val -578181"/>
              <a:gd name="adj2" fmla="val 99995"/>
            </a:avLst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ight Arrow 16">
            <a:extLst>
              <a:ext uri="{FF2B5EF4-FFF2-40B4-BE49-F238E27FC236}">
                <a16:creationId xmlns:a16="http://schemas.microsoft.com/office/drawing/2014/main" id="{537886FC-9391-CCB5-1005-AA1AE15B0F62}"/>
              </a:ext>
            </a:extLst>
          </p:cNvPr>
          <p:cNvSpPr/>
          <p:nvPr/>
        </p:nvSpPr>
        <p:spPr>
          <a:xfrm>
            <a:off x="8703572" y="5024831"/>
            <a:ext cx="243995" cy="45719"/>
          </a:xfrm>
          <a:prstGeom prst="rightArrow">
            <a:avLst/>
          </a:prstGeom>
          <a:solidFill>
            <a:srgbClr val="B2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68" name="Right Arrow 16">
            <a:extLst>
              <a:ext uri="{FF2B5EF4-FFF2-40B4-BE49-F238E27FC236}">
                <a16:creationId xmlns:a16="http://schemas.microsoft.com/office/drawing/2014/main" id="{49343A80-2F6D-1863-F51C-E5999D152561}"/>
              </a:ext>
            </a:extLst>
          </p:cNvPr>
          <p:cNvSpPr/>
          <p:nvPr/>
        </p:nvSpPr>
        <p:spPr>
          <a:xfrm>
            <a:off x="9927077" y="4985861"/>
            <a:ext cx="282211" cy="78500"/>
          </a:xfrm>
          <a:prstGeom prst="rightArrow">
            <a:avLst/>
          </a:prstGeom>
          <a:solidFill>
            <a:srgbClr val="B2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5FA815E-7492-4FC1-D97E-BC5A21B21FC9}"/>
              </a:ext>
            </a:extLst>
          </p:cNvPr>
          <p:cNvSpPr/>
          <p:nvPr/>
        </p:nvSpPr>
        <p:spPr>
          <a:xfrm>
            <a:off x="9318649" y="5436933"/>
            <a:ext cx="29260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b="1"/>
          </a:p>
        </p:txBody>
      </p:sp>
      <p:cxnSp>
        <p:nvCxnSpPr>
          <p:cNvPr id="70" name="Connector 112">
            <a:extLst>
              <a:ext uri="{FF2B5EF4-FFF2-40B4-BE49-F238E27FC236}">
                <a16:creationId xmlns:a16="http://schemas.microsoft.com/office/drawing/2014/main" id="{E526B9DE-A616-E9E7-15C2-DC3C8B459DF3}"/>
              </a:ext>
            </a:extLst>
          </p:cNvPr>
          <p:cNvCxnSpPr>
            <a:cxnSpLocks/>
          </p:cNvCxnSpPr>
          <p:nvPr/>
        </p:nvCxnSpPr>
        <p:spPr>
          <a:xfrm flipV="1">
            <a:off x="9369855" y="5495454"/>
            <a:ext cx="65837" cy="36576"/>
          </a:xfrm>
          <a:prstGeom prst="line">
            <a:avLst/>
          </a:prstGeom>
          <a:ln w="10795">
            <a:solidFill>
              <a:srgbClr val="7E22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113">
            <a:extLst>
              <a:ext uri="{FF2B5EF4-FFF2-40B4-BE49-F238E27FC236}">
                <a16:creationId xmlns:a16="http://schemas.microsoft.com/office/drawing/2014/main" id="{B1533552-1C3B-FF11-BCBA-560775C52271}"/>
              </a:ext>
            </a:extLst>
          </p:cNvPr>
          <p:cNvCxnSpPr>
            <a:cxnSpLocks/>
          </p:cNvCxnSpPr>
          <p:nvPr/>
        </p:nvCxnSpPr>
        <p:spPr>
          <a:xfrm>
            <a:off x="9435692" y="5495454"/>
            <a:ext cx="58521" cy="21946"/>
          </a:xfrm>
          <a:prstGeom prst="line">
            <a:avLst/>
          </a:prstGeom>
          <a:ln w="10795">
            <a:solidFill>
              <a:srgbClr val="7E22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114">
            <a:extLst>
              <a:ext uri="{FF2B5EF4-FFF2-40B4-BE49-F238E27FC236}">
                <a16:creationId xmlns:a16="http://schemas.microsoft.com/office/drawing/2014/main" id="{7E6EC710-FDE6-1E87-92B2-5346A621CE7E}"/>
              </a:ext>
            </a:extLst>
          </p:cNvPr>
          <p:cNvCxnSpPr>
            <a:cxnSpLocks/>
          </p:cNvCxnSpPr>
          <p:nvPr/>
        </p:nvCxnSpPr>
        <p:spPr>
          <a:xfrm flipV="1">
            <a:off x="9494213" y="5480824"/>
            <a:ext cx="61448" cy="36576"/>
          </a:xfrm>
          <a:prstGeom prst="line">
            <a:avLst/>
          </a:prstGeom>
          <a:ln w="10795">
            <a:solidFill>
              <a:srgbClr val="7E22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115">
            <a:extLst>
              <a:ext uri="{FF2B5EF4-FFF2-40B4-BE49-F238E27FC236}">
                <a16:creationId xmlns:a16="http://schemas.microsoft.com/office/drawing/2014/main" id="{F3AFE974-C44F-5BA5-00D7-CEF22619D3E6}"/>
              </a:ext>
            </a:extLst>
          </p:cNvPr>
          <p:cNvCxnSpPr>
            <a:cxnSpLocks/>
          </p:cNvCxnSpPr>
          <p:nvPr/>
        </p:nvCxnSpPr>
        <p:spPr>
          <a:xfrm>
            <a:off x="9464953" y="5583237"/>
            <a:ext cx="0" cy="36576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116">
            <a:extLst>
              <a:ext uri="{FF2B5EF4-FFF2-40B4-BE49-F238E27FC236}">
                <a16:creationId xmlns:a16="http://schemas.microsoft.com/office/drawing/2014/main" id="{FF0E0A43-684B-62A8-91E1-9AD59833DD41}"/>
              </a:ext>
            </a:extLst>
          </p:cNvPr>
          <p:cNvCxnSpPr>
            <a:cxnSpLocks/>
          </p:cNvCxnSpPr>
          <p:nvPr/>
        </p:nvCxnSpPr>
        <p:spPr>
          <a:xfrm>
            <a:off x="9423987" y="5619813"/>
            <a:ext cx="81931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</TotalTime>
  <Words>120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Krina Mehta</cp:lastModifiedBy>
  <cp:revision>10</cp:revision>
  <dcterms:created xsi:type="dcterms:W3CDTF">2013-01-27T09:14:16Z</dcterms:created>
  <dcterms:modified xsi:type="dcterms:W3CDTF">2026-07-03T15:58:13Z</dcterms:modified>
  <cp:category/>
</cp:coreProperties>
</file>