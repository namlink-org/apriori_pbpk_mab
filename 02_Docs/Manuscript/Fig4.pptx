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2BE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548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13A1A6-1ECB-4FD3-95CD-79D33FAA307A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542653-BC25-4014-874C-F6D3478B64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531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653-BC25-4014-874C-F6D3478B648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1922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71D00E3-0377-ECD6-CED1-42F12713D46B}"/>
              </a:ext>
            </a:extLst>
          </p:cNvPr>
          <p:cNvCxnSpPr>
            <a:stCxn id="9" idx="3"/>
            <a:endCxn id="14" idx="1"/>
          </p:cNvCxnSpPr>
          <p:nvPr/>
        </p:nvCxnSpPr>
        <p:spPr>
          <a:xfrm>
            <a:off x="2134830" y="2239873"/>
            <a:ext cx="7936992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25BEEF8E-DBA4-88BC-6C25-B056DFED66DE}"/>
              </a:ext>
            </a:extLst>
          </p:cNvPr>
          <p:cNvCxnSpPr>
            <a:stCxn id="140" idx="3"/>
            <a:endCxn id="182" idx="1"/>
          </p:cNvCxnSpPr>
          <p:nvPr/>
        </p:nvCxnSpPr>
        <p:spPr>
          <a:xfrm flipV="1">
            <a:off x="2115811" y="4407188"/>
            <a:ext cx="8447983" cy="20349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901791" y="869330"/>
            <a:ext cx="4572000" cy="40626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lang="en-US" sz="2400" b="1" dirty="0">
                <a:solidFill>
                  <a:srgbClr val="7E22CE"/>
                </a:solidFill>
                <a:latin typeface="Aptos"/>
              </a:rPr>
              <a:t>Standard W</a:t>
            </a:r>
            <a:r>
              <a:rPr sz="2400" b="1" dirty="0">
                <a:solidFill>
                  <a:srgbClr val="7E22CE"/>
                </a:solidFill>
                <a:latin typeface="Aptos"/>
              </a:rPr>
              <a:t>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50809" y="3077790"/>
            <a:ext cx="3611005" cy="40626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2400" b="1" dirty="0">
                <a:solidFill>
                  <a:srgbClr val="7E22CE"/>
                </a:solidFill>
                <a:latin typeface="Aptos"/>
              </a:rPr>
              <a:t>Proposed</a:t>
            </a:r>
            <a:r>
              <a:rPr lang="en-US" sz="2400" b="1" dirty="0">
                <a:solidFill>
                  <a:srgbClr val="7E22CE"/>
                </a:solidFill>
                <a:latin typeface="Aptos"/>
              </a:rPr>
              <a:t> NAM W</a:t>
            </a:r>
            <a:r>
              <a:rPr sz="2400" b="1" dirty="0">
                <a:solidFill>
                  <a:srgbClr val="7E22CE"/>
                </a:solidFill>
                <a:latin typeface="Aptos"/>
              </a:rPr>
              <a:t>orkflow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25002" y="1974697"/>
            <a:ext cx="909828" cy="530352"/>
          </a:xfrm>
          <a:prstGeom prst="round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en-US" sz="1200" b="1" dirty="0">
                <a:solidFill>
                  <a:srgbClr val="1F2937"/>
                </a:solidFill>
                <a:latin typeface="Aptos"/>
              </a:rPr>
              <a:t>Candidate
mAb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3782" y="1974697"/>
            <a:ext cx="1234440" cy="530352"/>
          </a:xfrm>
          <a:prstGeom prst="round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en-US" sz="1200" b="1" dirty="0">
                <a:solidFill>
                  <a:srgbClr val="1F2937"/>
                </a:solidFill>
                <a:latin typeface="Aptos"/>
              </a:rPr>
              <a:t>In Vitro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85421" y="1974697"/>
            <a:ext cx="1388060" cy="530352"/>
          </a:xfrm>
          <a:prstGeom prst="round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en-US" sz="1200" b="1" dirty="0">
                <a:solidFill>
                  <a:srgbClr val="1F2937"/>
                </a:solidFill>
                <a:latin typeface="Aptos"/>
              </a:rPr>
              <a:t>Single-Dose In Vivo PK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942" y="1974697"/>
            <a:ext cx="1508760" cy="530352"/>
          </a:xfrm>
          <a:prstGeom prst="round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en-US" sz="1200" b="1" dirty="0">
                <a:solidFill>
                  <a:srgbClr val="1F2937"/>
                </a:solidFill>
                <a:latin typeface="Aptos"/>
              </a:rPr>
              <a:t>R</a:t>
            </a:r>
            <a:r>
              <a:rPr sz="1200" b="1" dirty="0">
                <a:solidFill>
                  <a:srgbClr val="1F2937"/>
                </a:solidFill>
                <a:latin typeface="Aptos"/>
              </a:rPr>
              <a:t>epeat-</a:t>
            </a:r>
            <a:r>
              <a:rPr lang="en-US" sz="1200" b="1" dirty="0">
                <a:solidFill>
                  <a:srgbClr val="1F2937"/>
                </a:solidFill>
                <a:latin typeface="Aptos"/>
              </a:rPr>
              <a:t>D</a:t>
            </a:r>
            <a:r>
              <a:rPr sz="1200" b="1" dirty="0">
                <a:solidFill>
                  <a:srgbClr val="1F2937"/>
                </a:solidFill>
                <a:latin typeface="Aptos"/>
              </a:rPr>
              <a:t>ose</a:t>
            </a:r>
            <a:r>
              <a:rPr lang="en-US" sz="1200" b="1" dirty="0">
                <a:solidFill>
                  <a:srgbClr val="1F2937"/>
                </a:solidFill>
                <a:latin typeface="Aptos"/>
              </a:rPr>
              <a:t> In Vivo</a:t>
            </a:r>
            <a:r>
              <a:rPr sz="1200" b="1" dirty="0">
                <a:solidFill>
                  <a:srgbClr val="1F2937"/>
                </a:solidFill>
                <a:latin typeface="Aptos"/>
              </a:rPr>
              <a:t> </a:t>
            </a:r>
            <a:r>
              <a:rPr lang="en-US" sz="1200" b="1" dirty="0">
                <a:solidFill>
                  <a:srgbClr val="1F2937"/>
                </a:solidFill>
                <a:latin typeface="Aptos"/>
              </a:rPr>
              <a:t>PK</a:t>
            </a:r>
            <a:endParaRPr sz="1200" b="1" dirty="0">
              <a:solidFill>
                <a:srgbClr val="1F2937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425902" y="1974697"/>
            <a:ext cx="1188720" cy="530352"/>
          </a:xfrm>
          <a:prstGeom prst="round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en-US" sz="1200" b="1" dirty="0">
                <a:solidFill>
                  <a:srgbClr val="1F2937"/>
                </a:solidFill>
                <a:latin typeface="Aptos"/>
              </a:rPr>
              <a:t>(Top Down) Final Model</a:t>
            </a:r>
            <a:endParaRPr sz="1200" b="1" dirty="0">
              <a:solidFill>
                <a:srgbClr val="1F2937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0071822" y="1974697"/>
            <a:ext cx="1019600" cy="530352"/>
          </a:xfrm>
          <a:prstGeom prst="round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en-US" sz="1200" b="1" dirty="0">
                <a:solidFill>
                  <a:srgbClr val="1F2937"/>
                </a:solidFill>
                <a:latin typeface="Aptos"/>
              </a:rPr>
              <a:t>Human PK</a:t>
            </a:r>
            <a:endParaRPr sz="1200" b="1" dirty="0">
              <a:solidFill>
                <a:srgbClr val="1F2937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893782" y="1505610"/>
            <a:ext cx="1234440" cy="40626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dirty="0">
                <a:solidFill>
                  <a:srgbClr val="002060"/>
                </a:solidFill>
                <a:latin typeface="Aptos"/>
              </a:rPr>
              <a:t>2–6 wk
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5421" y="1465808"/>
            <a:ext cx="1234440" cy="40626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lang="en-US" sz="1200" b="1" dirty="0">
                <a:solidFill>
                  <a:srgbClr val="002060"/>
                </a:solidFill>
                <a:latin typeface="Aptos"/>
              </a:rPr>
              <a:t>4-6 wk
</a:t>
            </a:r>
            <a:r>
              <a:rPr lang="en-US" sz="1200" b="1" dirty="0">
                <a:solidFill>
                  <a:srgbClr val="7030A0"/>
                </a:solidFill>
                <a:latin typeface="Aptos"/>
              </a:rPr>
              <a:t>12–18 animals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463" y="1478456"/>
            <a:ext cx="1508760" cy="40626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lang="en-US" sz="1200" b="1" dirty="0">
                <a:solidFill>
                  <a:srgbClr val="002060"/>
                </a:solidFill>
                <a:latin typeface="Aptos"/>
              </a:rPr>
              <a:t>2</a:t>
            </a:r>
            <a:r>
              <a:rPr sz="1200" b="1" dirty="0">
                <a:solidFill>
                  <a:srgbClr val="002060"/>
                </a:solidFill>
                <a:latin typeface="Aptos"/>
              </a:rPr>
              <a:t>–</a:t>
            </a:r>
            <a:r>
              <a:rPr lang="en-US" sz="1200" b="1" dirty="0">
                <a:solidFill>
                  <a:srgbClr val="002060"/>
                </a:solidFill>
                <a:latin typeface="Aptos"/>
              </a:rPr>
              <a:t>4</a:t>
            </a:r>
            <a:r>
              <a:rPr sz="1200" b="1" dirty="0">
                <a:solidFill>
                  <a:srgbClr val="002060"/>
                </a:solidFill>
                <a:latin typeface="Aptos"/>
              </a:rPr>
              <a:t> mo 
</a:t>
            </a:r>
            <a:r>
              <a:rPr sz="1200" b="1" dirty="0">
                <a:solidFill>
                  <a:srgbClr val="7030A0"/>
                </a:solidFill>
                <a:latin typeface="Aptos"/>
              </a:rPr>
              <a:t>12–24</a:t>
            </a:r>
            <a:r>
              <a:rPr sz="1200" b="1" dirty="0">
                <a:solidFill>
                  <a:srgbClr val="002060"/>
                </a:solidFill>
                <a:latin typeface="Aptos"/>
              </a:rPr>
              <a:t> </a:t>
            </a:r>
            <a:r>
              <a:rPr lang="en-US" sz="1200" b="1" dirty="0">
                <a:solidFill>
                  <a:srgbClr val="7030A0"/>
                </a:solidFill>
                <a:latin typeface="Aptos"/>
              </a:rPr>
              <a:t>animals</a:t>
            </a:r>
            <a:endParaRPr sz="1200" b="1" dirty="0">
              <a:solidFill>
                <a:srgbClr val="7030A0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396641" y="1471993"/>
            <a:ext cx="1188720" cy="221599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dirty="0">
                <a:solidFill>
                  <a:srgbClr val="002060"/>
                </a:solidFill>
                <a:latin typeface="Aptos"/>
              </a:rPr>
              <a:t>2–</a:t>
            </a:r>
            <a:r>
              <a:rPr lang="en-US" sz="1200" b="1" dirty="0">
                <a:solidFill>
                  <a:srgbClr val="002060"/>
                </a:solidFill>
                <a:latin typeface="Aptos"/>
              </a:rPr>
              <a:t>4</a:t>
            </a:r>
            <a:r>
              <a:rPr sz="1200" b="1" dirty="0">
                <a:solidFill>
                  <a:srgbClr val="002060"/>
                </a:solidFill>
                <a:latin typeface="Aptos"/>
              </a:rPr>
              <a:t> wk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57382" y="2662325"/>
            <a:ext cx="307238" cy="16093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37" name="Oval 36"/>
          <p:cNvSpPr/>
          <p:nvPr/>
        </p:nvSpPr>
        <p:spPr>
          <a:xfrm>
            <a:off x="3404200" y="2691586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38" name="Oval 37"/>
          <p:cNvSpPr/>
          <p:nvPr/>
        </p:nvSpPr>
        <p:spPr>
          <a:xfrm>
            <a:off x="3404200" y="2755960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39" name="Oval 38"/>
          <p:cNvSpPr/>
          <p:nvPr/>
        </p:nvSpPr>
        <p:spPr>
          <a:xfrm>
            <a:off x="3491982" y="2691586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40" name="Oval 39"/>
          <p:cNvSpPr/>
          <p:nvPr/>
        </p:nvSpPr>
        <p:spPr>
          <a:xfrm>
            <a:off x="3491982" y="2755960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41" name="Oval 40"/>
          <p:cNvSpPr/>
          <p:nvPr/>
        </p:nvSpPr>
        <p:spPr>
          <a:xfrm>
            <a:off x="3579764" y="2691586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42" name="Oval 41"/>
          <p:cNvSpPr/>
          <p:nvPr/>
        </p:nvSpPr>
        <p:spPr>
          <a:xfrm>
            <a:off x="3579764" y="2755960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57" name="Rectangle 56"/>
          <p:cNvSpPr/>
          <p:nvPr/>
        </p:nvSpPr>
        <p:spPr>
          <a:xfrm>
            <a:off x="8854938" y="2662325"/>
            <a:ext cx="292608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cxnSp>
        <p:nvCxnSpPr>
          <p:cNvPr id="58" name="Connector 57"/>
          <p:cNvCxnSpPr>
            <a:cxnSpLocks/>
          </p:cNvCxnSpPr>
          <p:nvPr/>
        </p:nvCxnSpPr>
        <p:spPr>
          <a:xfrm flipV="1">
            <a:off x="8906144" y="2720846"/>
            <a:ext cx="65837" cy="36576"/>
          </a:xfrm>
          <a:prstGeom prst="line">
            <a:avLst/>
          </a:prstGeom>
          <a:ln w="10795">
            <a:solidFill>
              <a:srgbClr val="7E22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>
            <a:cxnSpLocks/>
          </p:cNvCxnSpPr>
          <p:nvPr/>
        </p:nvCxnSpPr>
        <p:spPr>
          <a:xfrm>
            <a:off x="8971981" y="2720846"/>
            <a:ext cx="58521" cy="21946"/>
          </a:xfrm>
          <a:prstGeom prst="line">
            <a:avLst/>
          </a:prstGeom>
          <a:ln w="10795">
            <a:solidFill>
              <a:srgbClr val="7E22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>
            <a:cxnSpLocks/>
          </p:cNvCxnSpPr>
          <p:nvPr/>
        </p:nvCxnSpPr>
        <p:spPr>
          <a:xfrm flipV="1">
            <a:off x="9030502" y="2706216"/>
            <a:ext cx="61448" cy="36576"/>
          </a:xfrm>
          <a:prstGeom prst="line">
            <a:avLst/>
          </a:prstGeom>
          <a:ln w="10795">
            <a:solidFill>
              <a:srgbClr val="7E22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>
            <a:cxnSpLocks/>
          </p:cNvCxnSpPr>
          <p:nvPr/>
        </p:nvCxnSpPr>
        <p:spPr>
          <a:xfrm>
            <a:off x="9001242" y="2808629"/>
            <a:ext cx="0" cy="36576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>
            <a:cxnSpLocks/>
          </p:cNvCxnSpPr>
          <p:nvPr/>
        </p:nvCxnSpPr>
        <p:spPr>
          <a:xfrm>
            <a:off x="8960276" y="2845205"/>
            <a:ext cx="81931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2437817" y="4162361"/>
            <a:ext cx="1371600" cy="530352"/>
          </a:xfrm>
          <a:prstGeom prst="round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en-US" sz="1200" b="1" dirty="0">
                <a:solidFill>
                  <a:srgbClr val="1F2937"/>
                </a:solidFill>
                <a:latin typeface="Aptos"/>
              </a:rPr>
              <a:t>T</a:t>
            </a:r>
            <a:r>
              <a:rPr sz="1200" b="1" dirty="0">
                <a:solidFill>
                  <a:srgbClr val="1F2937"/>
                </a:solidFill>
                <a:latin typeface="Aptos"/>
              </a:rPr>
              <a:t>argeted </a:t>
            </a:r>
            <a:r>
              <a:rPr lang="en-US" sz="1200" b="1" dirty="0">
                <a:solidFill>
                  <a:srgbClr val="1F2937"/>
                </a:solidFill>
                <a:latin typeface="Aptos"/>
              </a:rPr>
              <a:t>I</a:t>
            </a:r>
            <a:r>
              <a:rPr sz="1200" b="1" dirty="0">
                <a:solidFill>
                  <a:srgbClr val="1F2937"/>
                </a:solidFill>
                <a:latin typeface="Aptos"/>
              </a:rPr>
              <a:t>n </a:t>
            </a:r>
            <a:r>
              <a:rPr lang="en-US" sz="1200" b="1" dirty="0">
                <a:solidFill>
                  <a:srgbClr val="1F2937"/>
                </a:solidFill>
                <a:latin typeface="Aptos"/>
              </a:rPr>
              <a:t>V</a:t>
            </a:r>
            <a:r>
              <a:rPr sz="1200" b="1" dirty="0">
                <a:solidFill>
                  <a:srgbClr val="1F2937"/>
                </a:solidFill>
                <a:latin typeface="Aptos"/>
              </a:rPr>
              <a:t>itro
</a:t>
            </a:r>
            <a:r>
              <a:rPr lang="en-US" sz="1200" b="1" dirty="0">
                <a:solidFill>
                  <a:srgbClr val="1F2937"/>
                </a:solidFill>
                <a:latin typeface="Aptos"/>
              </a:rPr>
              <a:t>P</a:t>
            </a:r>
            <a:r>
              <a:rPr sz="1200" b="1" dirty="0">
                <a:solidFill>
                  <a:srgbClr val="1F2937"/>
                </a:solidFill>
                <a:latin typeface="Aptos"/>
              </a:rPr>
              <a:t>arameter</a:t>
            </a:r>
            <a:r>
              <a:rPr lang="en-US" sz="1200" b="1" dirty="0">
                <a:solidFill>
                  <a:srgbClr val="1F2937"/>
                </a:solidFill>
                <a:latin typeface="Aptos"/>
              </a:rPr>
              <a:t>s</a:t>
            </a:r>
            <a:r>
              <a:rPr sz="1200" b="1" dirty="0">
                <a:solidFill>
                  <a:srgbClr val="1F2937"/>
                </a:solidFill>
                <a:latin typeface="Aptos"/>
              </a:rPr>
              <a:t>
</a:t>
            </a:r>
            <a:r>
              <a:rPr lang="en-US" sz="1200" b="1" dirty="0">
                <a:solidFill>
                  <a:srgbClr val="1F2937"/>
                </a:solidFill>
                <a:latin typeface="Aptos"/>
              </a:rPr>
              <a:t>P</a:t>
            </a:r>
            <a:r>
              <a:rPr sz="1200" b="1" dirty="0">
                <a:solidFill>
                  <a:srgbClr val="1F2937"/>
                </a:solidFill>
                <a:latin typeface="Aptos"/>
              </a:rPr>
              <a:t>ackage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131423" y="4153931"/>
            <a:ext cx="1271757" cy="530352"/>
          </a:xfrm>
          <a:prstGeom prst="round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en-US" sz="1200" b="1" dirty="0">
                <a:solidFill>
                  <a:srgbClr val="1F2937"/>
                </a:solidFill>
                <a:latin typeface="Aptos"/>
              </a:rPr>
              <a:t>A Priori </a:t>
            </a:r>
            <a:r>
              <a:rPr sz="1200" b="1" dirty="0">
                <a:solidFill>
                  <a:srgbClr val="1F2937"/>
                </a:solidFill>
                <a:latin typeface="Aptos"/>
              </a:rPr>
              <a:t>PBPK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679062" y="4181937"/>
            <a:ext cx="1292467" cy="530352"/>
          </a:xfrm>
          <a:prstGeom prst="round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en-US" sz="1200" b="1" dirty="0">
                <a:solidFill>
                  <a:srgbClr val="1F2937"/>
                </a:solidFill>
                <a:latin typeface="Aptos"/>
              </a:rPr>
              <a:t>Reduced In Vivo PK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31760" y="3687758"/>
            <a:ext cx="1572768" cy="221599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lang="en-US" sz="1200" b="1" dirty="0">
                <a:solidFill>
                  <a:srgbClr val="002060"/>
                </a:solidFill>
                <a:latin typeface="Aptos"/>
              </a:rPr>
              <a:t>2</a:t>
            </a:r>
            <a:r>
              <a:rPr sz="1200" b="1" dirty="0">
                <a:solidFill>
                  <a:srgbClr val="002060"/>
                </a:solidFill>
                <a:latin typeface="Aptos"/>
              </a:rPr>
              <a:t>–6 wk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26129" y="3686916"/>
            <a:ext cx="1691640" cy="221599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dirty="0">
                <a:solidFill>
                  <a:srgbClr val="002060"/>
                </a:solidFill>
                <a:latin typeface="Aptos"/>
              </a:rPr>
              <a:t>1–2 wk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729442" y="4795840"/>
            <a:ext cx="292608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cxnSp>
        <p:nvCxnSpPr>
          <p:cNvPr id="113" name="Connector 112"/>
          <p:cNvCxnSpPr>
            <a:cxnSpLocks/>
          </p:cNvCxnSpPr>
          <p:nvPr/>
        </p:nvCxnSpPr>
        <p:spPr>
          <a:xfrm flipV="1">
            <a:off x="4780648" y="4854361"/>
            <a:ext cx="65837" cy="36576"/>
          </a:xfrm>
          <a:prstGeom prst="line">
            <a:avLst/>
          </a:prstGeom>
          <a:ln w="10795">
            <a:solidFill>
              <a:srgbClr val="7E22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>
            <a:cxnSpLocks/>
          </p:cNvCxnSpPr>
          <p:nvPr/>
        </p:nvCxnSpPr>
        <p:spPr>
          <a:xfrm>
            <a:off x="4846485" y="4854361"/>
            <a:ext cx="58521" cy="21946"/>
          </a:xfrm>
          <a:prstGeom prst="line">
            <a:avLst/>
          </a:prstGeom>
          <a:ln w="10795">
            <a:solidFill>
              <a:srgbClr val="7E22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>
            <a:cxnSpLocks/>
          </p:cNvCxnSpPr>
          <p:nvPr/>
        </p:nvCxnSpPr>
        <p:spPr>
          <a:xfrm flipV="1">
            <a:off x="4905006" y="4839731"/>
            <a:ext cx="61448" cy="36576"/>
          </a:xfrm>
          <a:prstGeom prst="line">
            <a:avLst/>
          </a:prstGeom>
          <a:ln w="10795">
            <a:solidFill>
              <a:srgbClr val="7E22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>
            <a:cxnSpLocks/>
          </p:cNvCxnSpPr>
          <p:nvPr/>
        </p:nvCxnSpPr>
        <p:spPr>
          <a:xfrm>
            <a:off x="4875746" y="4942144"/>
            <a:ext cx="0" cy="36576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>
            <a:cxnSpLocks/>
          </p:cNvCxnSpPr>
          <p:nvPr/>
        </p:nvCxnSpPr>
        <p:spPr>
          <a:xfrm>
            <a:off x="4834780" y="4978720"/>
            <a:ext cx="81931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6" name="Graphic 135" descr="Monkey outline">
            <a:extLst>
              <a:ext uri="{FF2B5EF4-FFF2-40B4-BE49-F238E27FC236}">
                <a16:creationId xmlns:a16="http://schemas.microsoft.com/office/drawing/2014/main" id="{189CE017-B080-F689-C3AA-02D7B58A2C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3799" y="2589173"/>
            <a:ext cx="321869" cy="321869"/>
          </a:xfrm>
          <a:prstGeom prst="rect">
            <a:avLst/>
          </a:prstGeom>
        </p:spPr>
      </p:pic>
      <p:pic>
        <p:nvPicPr>
          <p:cNvPr id="137" name="Graphic 136" descr="Monkey outline">
            <a:extLst>
              <a:ext uri="{FF2B5EF4-FFF2-40B4-BE49-F238E27FC236}">
                <a16:creationId xmlns:a16="http://schemas.microsoft.com/office/drawing/2014/main" id="{15B27BC3-5042-DF17-7CB2-9FFA8EDBE6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98343" y="2595025"/>
            <a:ext cx="321869" cy="321869"/>
          </a:xfrm>
          <a:prstGeom prst="rect">
            <a:avLst/>
          </a:prstGeom>
        </p:spPr>
      </p:pic>
      <p:pic>
        <p:nvPicPr>
          <p:cNvPr id="139" name="Graphic 138" descr="Man outline">
            <a:extLst>
              <a:ext uri="{FF2B5EF4-FFF2-40B4-BE49-F238E27FC236}">
                <a16:creationId xmlns:a16="http://schemas.microsoft.com/office/drawing/2014/main" id="{EF7E6FD8-4E48-F1A5-22CF-36A5B5F911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75078" y="2571662"/>
            <a:ext cx="473933" cy="473933"/>
          </a:xfrm>
          <a:prstGeom prst="rect">
            <a:avLst/>
          </a:prstGeom>
        </p:spPr>
      </p:pic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5FE52383-1FA4-8DF1-D7A0-46C067924E14}"/>
              </a:ext>
            </a:extLst>
          </p:cNvPr>
          <p:cNvSpPr/>
          <p:nvPr/>
        </p:nvSpPr>
        <p:spPr>
          <a:xfrm>
            <a:off x="1205983" y="4162361"/>
            <a:ext cx="909828" cy="530352"/>
          </a:xfrm>
          <a:prstGeom prst="round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en-US" sz="1200" b="1" dirty="0">
                <a:solidFill>
                  <a:srgbClr val="1F2937"/>
                </a:solidFill>
                <a:latin typeface="Aptos"/>
              </a:rPr>
              <a:t>C</a:t>
            </a:r>
            <a:r>
              <a:rPr sz="1200" b="1" dirty="0">
                <a:solidFill>
                  <a:srgbClr val="1F2937"/>
                </a:solidFill>
                <a:latin typeface="Aptos"/>
              </a:rPr>
              <a:t>andidate
mAb</a:t>
            </a:r>
          </a:p>
        </p:txBody>
      </p:sp>
      <p:sp>
        <p:nvSpPr>
          <p:cNvPr id="148" name="Rounded Rectangle 35">
            <a:extLst>
              <a:ext uri="{FF2B5EF4-FFF2-40B4-BE49-F238E27FC236}">
                <a16:creationId xmlns:a16="http://schemas.microsoft.com/office/drawing/2014/main" id="{B8E03203-04A7-6139-7AA4-522415D12F36}"/>
              </a:ext>
            </a:extLst>
          </p:cNvPr>
          <p:cNvSpPr/>
          <p:nvPr/>
        </p:nvSpPr>
        <p:spPr>
          <a:xfrm>
            <a:off x="2912391" y="4779908"/>
            <a:ext cx="307238" cy="16093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BBA34CFB-9EF9-3352-E60C-8D8816E11BF2}"/>
              </a:ext>
            </a:extLst>
          </p:cNvPr>
          <p:cNvSpPr/>
          <p:nvPr/>
        </p:nvSpPr>
        <p:spPr>
          <a:xfrm>
            <a:off x="2959209" y="4809169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E24CABCE-3A6E-7C1E-1A10-9095A1F6CACF}"/>
              </a:ext>
            </a:extLst>
          </p:cNvPr>
          <p:cNvSpPr/>
          <p:nvPr/>
        </p:nvSpPr>
        <p:spPr>
          <a:xfrm>
            <a:off x="2959209" y="4873543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51" name="Oval 150">
            <a:extLst>
              <a:ext uri="{FF2B5EF4-FFF2-40B4-BE49-F238E27FC236}">
                <a16:creationId xmlns:a16="http://schemas.microsoft.com/office/drawing/2014/main" id="{2E0939DA-D8E3-1C43-A62F-8DABB90F0F32}"/>
              </a:ext>
            </a:extLst>
          </p:cNvPr>
          <p:cNvSpPr/>
          <p:nvPr/>
        </p:nvSpPr>
        <p:spPr>
          <a:xfrm>
            <a:off x="3046991" y="4809169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F09F0F9D-CDDC-35BB-A368-17494FE4F72A}"/>
              </a:ext>
            </a:extLst>
          </p:cNvPr>
          <p:cNvSpPr/>
          <p:nvPr/>
        </p:nvSpPr>
        <p:spPr>
          <a:xfrm>
            <a:off x="3046991" y="4873543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D4F8C91A-E4C4-8ED8-913F-B3647F999BCC}"/>
              </a:ext>
            </a:extLst>
          </p:cNvPr>
          <p:cNvSpPr/>
          <p:nvPr/>
        </p:nvSpPr>
        <p:spPr>
          <a:xfrm>
            <a:off x="3134773" y="4809169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240EFCBD-EF82-40C5-049D-4412E971D110}"/>
              </a:ext>
            </a:extLst>
          </p:cNvPr>
          <p:cNvSpPr/>
          <p:nvPr/>
        </p:nvSpPr>
        <p:spPr>
          <a:xfrm>
            <a:off x="3134773" y="4873543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B0B9FA6B-0089-ECCA-7DD0-1DBEA87EE8C2}"/>
              </a:ext>
            </a:extLst>
          </p:cNvPr>
          <p:cNvSpPr txBox="1"/>
          <p:nvPr/>
        </p:nvSpPr>
        <p:spPr>
          <a:xfrm>
            <a:off x="5751186" y="3677683"/>
            <a:ext cx="1173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2060"/>
                </a:solidFill>
                <a:latin typeface="Aptos"/>
              </a:rPr>
              <a:t>4-6 wk
</a:t>
            </a:r>
            <a:r>
              <a:rPr lang="en-US" sz="1200" b="1" dirty="0">
                <a:solidFill>
                  <a:srgbClr val="7030A0"/>
                </a:solidFill>
                <a:latin typeface="Aptos"/>
              </a:rPr>
              <a:t>6-9 animals</a:t>
            </a:r>
          </a:p>
        </p:txBody>
      </p:sp>
      <p:pic>
        <p:nvPicPr>
          <p:cNvPr id="161" name="Graphic 160" descr="Man outline">
            <a:extLst>
              <a:ext uri="{FF2B5EF4-FFF2-40B4-BE49-F238E27FC236}">
                <a16:creationId xmlns:a16="http://schemas.microsoft.com/office/drawing/2014/main" id="{B9AA4034-2064-BE1A-89B4-A3EDE6148F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42127" y="4712291"/>
            <a:ext cx="473933" cy="473933"/>
          </a:xfrm>
          <a:prstGeom prst="rect">
            <a:avLst/>
          </a:prstGeom>
        </p:spPr>
      </p:pic>
      <p:pic>
        <p:nvPicPr>
          <p:cNvPr id="163" name="Graphic 162" descr="Monkey outline">
            <a:extLst>
              <a:ext uri="{FF2B5EF4-FFF2-40B4-BE49-F238E27FC236}">
                <a16:creationId xmlns:a16="http://schemas.microsoft.com/office/drawing/2014/main" id="{4D791292-6863-B38B-29E9-8F08D95774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02851" y="4799497"/>
            <a:ext cx="321869" cy="321869"/>
          </a:xfrm>
          <a:prstGeom prst="rect">
            <a:avLst/>
          </a:prstGeom>
        </p:spPr>
      </p:pic>
      <p:sp>
        <p:nvSpPr>
          <p:cNvPr id="182" name="Rounded Rectangle 13">
            <a:extLst>
              <a:ext uri="{FF2B5EF4-FFF2-40B4-BE49-F238E27FC236}">
                <a16:creationId xmlns:a16="http://schemas.microsoft.com/office/drawing/2014/main" id="{2C7F9AA0-11B8-0DA8-9474-9ED4FF39EA36}"/>
              </a:ext>
            </a:extLst>
          </p:cNvPr>
          <p:cNvSpPr/>
          <p:nvPr/>
        </p:nvSpPr>
        <p:spPr>
          <a:xfrm>
            <a:off x="10563794" y="4162361"/>
            <a:ext cx="1030601" cy="489654"/>
          </a:xfrm>
          <a:prstGeom prst="round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en-US" sz="1200" b="1" dirty="0">
                <a:solidFill>
                  <a:srgbClr val="1F2937"/>
                </a:solidFill>
                <a:latin typeface="Aptos"/>
              </a:rPr>
              <a:t>Human PK</a:t>
            </a:r>
            <a:endParaRPr sz="1200" b="1" dirty="0">
              <a:solidFill>
                <a:srgbClr val="1F2937"/>
              </a:solidFill>
              <a:latin typeface="Apto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CED25E8-019D-4DD1-4C14-A7C30606331D}"/>
              </a:ext>
            </a:extLst>
          </p:cNvPr>
          <p:cNvSpPr/>
          <p:nvPr/>
        </p:nvSpPr>
        <p:spPr>
          <a:xfrm>
            <a:off x="7372668" y="4181937"/>
            <a:ext cx="1641475" cy="530353"/>
          </a:xfrm>
          <a:prstGeom prst="round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F2937"/>
                </a:solidFill>
                <a:latin typeface="Aptos"/>
              </a:rPr>
              <a:t>Predictions within 2-fold of the observed?</a:t>
            </a:r>
          </a:p>
        </p:txBody>
      </p:sp>
      <p:sp>
        <p:nvSpPr>
          <p:cNvPr id="31" name="Rounded Rectangle 12">
            <a:extLst>
              <a:ext uri="{FF2B5EF4-FFF2-40B4-BE49-F238E27FC236}">
                <a16:creationId xmlns:a16="http://schemas.microsoft.com/office/drawing/2014/main" id="{A4CB427C-4BBA-E328-64DA-8CC33B99C32C}"/>
              </a:ext>
            </a:extLst>
          </p:cNvPr>
          <p:cNvSpPr/>
          <p:nvPr/>
        </p:nvSpPr>
        <p:spPr>
          <a:xfrm>
            <a:off x="9194608" y="4181937"/>
            <a:ext cx="1188720" cy="530352"/>
          </a:xfrm>
          <a:prstGeom prst="round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en-US" sz="1200" b="1" dirty="0">
                <a:solidFill>
                  <a:srgbClr val="1F2937"/>
                </a:solidFill>
                <a:latin typeface="Aptos"/>
              </a:rPr>
              <a:t>Final Model</a:t>
            </a:r>
            <a:endParaRPr sz="1200" b="1" dirty="0">
              <a:solidFill>
                <a:srgbClr val="1F2937"/>
              </a:solidFill>
              <a:latin typeface="Aptos"/>
            </a:endParaRP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1A22B499-9959-0D74-68BE-A456A6D4A02E}"/>
              </a:ext>
            </a:extLst>
          </p:cNvPr>
          <p:cNvCxnSpPr>
            <a:stCxn id="3" idx="0"/>
            <a:endCxn id="31" idx="0"/>
          </p:cNvCxnSpPr>
          <p:nvPr/>
        </p:nvCxnSpPr>
        <p:spPr>
          <a:xfrm rot="5400000" flipH="1" flipV="1">
            <a:off x="8991187" y="3384156"/>
            <a:ext cx="12700" cy="1595562"/>
          </a:xfrm>
          <a:prstGeom prst="bentConnector3">
            <a:avLst>
              <a:gd name="adj1" fmla="val 1800000"/>
            </a:avLst>
          </a:prstGeom>
          <a:ln w="1270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6714FE96-AA11-C9CE-2854-00A84DF3E55A}"/>
              </a:ext>
            </a:extLst>
          </p:cNvPr>
          <p:cNvCxnSpPr>
            <a:stCxn id="3" idx="2"/>
            <a:endCxn id="31" idx="2"/>
          </p:cNvCxnSpPr>
          <p:nvPr/>
        </p:nvCxnSpPr>
        <p:spPr>
          <a:xfrm rot="5400000" flipH="1" flipV="1">
            <a:off x="8991186" y="3914509"/>
            <a:ext cx="1" cy="1595562"/>
          </a:xfrm>
          <a:prstGeom prst="bentConnector3">
            <a:avLst>
              <a:gd name="adj1" fmla="val -22860000000"/>
            </a:avLst>
          </a:prstGeom>
          <a:ln w="1270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22EEE9F-C3E1-D93E-23F7-284298748573}"/>
              </a:ext>
            </a:extLst>
          </p:cNvPr>
          <p:cNvSpPr txBox="1"/>
          <p:nvPr/>
        </p:nvSpPr>
        <p:spPr>
          <a:xfrm>
            <a:off x="7861675" y="3876932"/>
            <a:ext cx="3834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Aptos"/>
              </a:rPr>
              <a:t>No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BEC778-E576-F1C3-81BE-C53604EADDF1}"/>
              </a:ext>
            </a:extLst>
          </p:cNvPr>
          <p:cNvSpPr txBox="1"/>
          <p:nvPr/>
        </p:nvSpPr>
        <p:spPr>
          <a:xfrm>
            <a:off x="8382045" y="3634279"/>
            <a:ext cx="14069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7030A0"/>
                </a:solidFill>
                <a:latin typeface="Aptos"/>
              </a:rPr>
              <a:t>Refine the model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ED608C6-AC60-4146-6E01-B7A2C72B6896}"/>
              </a:ext>
            </a:extLst>
          </p:cNvPr>
          <p:cNvSpPr txBox="1"/>
          <p:nvPr/>
        </p:nvSpPr>
        <p:spPr>
          <a:xfrm>
            <a:off x="7816341" y="4752437"/>
            <a:ext cx="4287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Aptos"/>
              </a:rPr>
              <a:t>Yes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841</TotalTime>
  <Words>100</Words>
  <Application>Microsoft Office PowerPoint</Application>
  <PresentationFormat>Widescreen</PresentationFormat>
  <Paragraphs>26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Krina Mehta</cp:lastModifiedBy>
  <cp:revision>13</cp:revision>
  <dcterms:created xsi:type="dcterms:W3CDTF">2013-01-27T09:14:16Z</dcterms:created>
  <dcterms:modified xsi:type="dcterms:W3CDTF">2026-07-27T04:00:26Z</dcterms:modified>
  <cp:category/>
</cp:coreProperties>
</file>